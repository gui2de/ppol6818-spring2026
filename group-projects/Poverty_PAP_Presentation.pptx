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9144000"/>
  <p:notesSz cx="6858000" cy="9144000"/>
  <p:embeddedFontLst>
    <p:embeddedFont>
      <p:font typeface="Helvetica Neue"/>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55CFAD2-E7B2-4F91-BE40-FC5B2C1AB688}">
  <a:tblStyle styleId="{A55CFAD2-E7B2-4F91-BE40-FC5B2C1AB68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bold.fntdata"/><Relationship Id="rId11" Type="http://schemas.openxmlformats.org/officeDocument/2006/relationships/slide" Target="slides/slide5.xml"/><Relationship Id="rId22" Type="http://schemas.openxmlformats.org/officeDocument/2006/relationships/font" Target="fonts/HelveticaNeue-boldItalic.fntdata"/><Relationship Id="rId10" Type="http://schemas.openxmlformats.org/officeDocument/2006/relationships/slide" Target="slides/slide4.xml"/><Relationship Id="rId21" Type="http://schemas.openxmlformats.org/officeDocument/2006/relationships/font" Target="fonts/HelveticaNeue-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HelveticaNeue-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6" name="Google Shape;8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9776b9321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g3d9776b9321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g3d9776b9321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982c53e8f_1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d982c53e8f_1_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t/>
            </a:r>
            <a:endParaRPr/>
          </a:p>
        </p:txBody>
      </p:sp>
      <p:sp>
        <p:nvSpPr>
          <p:cNvPr id="108" name="Google Shape;108;g3d982c53e8f_1_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97f3addae_1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3d97f3addae_1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i="1" lang="en-US" u="sng"/>
              <a:t>Intervention Logic (Grace)</a:t>
            </a:r>
            <a:endParaRPr i="1" u="sng"/>
          </a:p>
          <a:p>
            <a:pPr indent="0" lvl="0" marL="0" rtl="0" algn="l">
              <a:spcBef>
                <a:spcPts val="0"/>
              </a:spcBef>
              <a:spcAft>
                <a:spcPts val="0"/>
              </a:spcAft>
              <a:buClr>
                <a:schemeClr val="dk1"/>
              </a:buClr>
              <a:buSzPts val="1100"/>
              <a:buFont typeface="Arial"/>
              <a:buNone/>
            </a:pPr>
            <a:r>
              <a:rPr lang="en-US"/>
              <a:t>The gender productivity gap in Nigerian agriculture is well-documented, but what's striking is that 77% of it can't be explained by observable differences — women don't just have fewer inputs, they're structurally excluded from being seen as legitimate economic actors. Extension contacts, credit, land titles — these all flow to male household heads by default, and that signal matters. It tells the household, and the community, that men are the farmers and women are dependents.</a:t>
            </a:r>
            <a:endParaRPr/>
          </a:p>
          <a:p>
            <a:pPr indent="0" lvl="0" marL="0" rtl="0" algn="l">
              <a:spcBef>
                <a:spcPts val="0"/>
              </a:spcBef>
              <a:spcAft>
                <a:spcPts val="0"/>
              </a:spcAft>
              <a:buSzPts val="1100"/>
              <a:buNone/>
            </a:pPr>
            <a:r>
              <a:rPr lang="en-US"/>
              <a:t>Our theory of change centers on institutional signaling. If we deliberately route productive resources — knowledge and capital — to women as the named recipients, we hypothesize that this shifts intra-household authority. That's the mechanism. So we designed two treatment arms: T1 delivers women-only agricultural extension, and T2 adds microcredit on top of that, with the woman as the named borrower of record. In both cases, the woman is publicly visible as the one receiving the resource.</a:t>
            </a:r>
            <a:endParaRPr/>
          </a:p>
        </p:txBody>
      </p:sp>
      <p:sp>
        <p:nvSpPr>
          <p:cNvPr id="133" name="Google Shape;133;g3d97f3addae_1_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97f3addae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d97f3addae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i="1" lang="en-US" u="sng"/>
              <a:t>What We're Testing (Grace)</a:t>
            </a:r>
            <a:endParaRPr i="1" u="sng"/>
          </a:p>
          <a:p>
            <a:pPr indent="0" lvl="0" marL="0" rtl="0" algn="l">
              <a:spcBef>
                <a:spcPts val="0"/>
              </a:spcBef>
              <a:spcAft>
                <a:spcPts val="0"/>
              </a:spcAft>
              <a:buClr>
                <a:schemeClr val="dk1"/>
              </a:buClr>
              <a:buSzPts val="1100"/>
              <a:buFont typeface="Arial"/>
              <a:buNone/>
            </a:pPr>
            <a:r>
              <a:rPr lang="en-US"/>
              <a:t>This is a village-level RCT with three arms. Control villages continue under the status quo — no study-provided services — which gives us our counterfactual. Treatment 1 villages receive six modules of women-only extension over one growing season, delivered by female facilitators where possible. Treatment 2 adds microcredit eligibility, phased in after the initial extension period so women build financial literacy before accessing capital, and disbursed directly into the woman's own mobile money account.</a:t>
            </a:r>
            <a:endParaRPr/>
          </a:p>
          <a:p>
            <a:pPr indent="0" lvl="0" marL="0" rtl="0" algn="l">
              <a:spcBef>
                <a:spcPts val="0"/>
              </a:spcBef>
              <a:spcAft>
                <a:spcPts val="0"/>
              </a:spcAft>
              <a:buSzPts val="1100"/>
              <a:buNone/>
            </a:pPr>
            <a:r>
              <a:rPr lang="en-US"/>
              <a:t>The three arms give us three comparisons: T1 versus control isolates the effect of knowledge alone; T2 versus control captures the joint effect; and T2 versus T1 tests whether adding capital makes a difference beyond knowledge. Our primary outcomes are women's decision-making authority, control over farm revenue, and perceived productive role — measured through a pro-WEAI adapted instrument.</a:t>
            </a:r>
            <a:endParaRPr/>
          </a:p>
        </p:txBody>
      </p:sp>
      <p:sp>
        <p:nvSpPr>
          <p:cNvPr id="157" name="Google Shape;157;g3d97f3addae_1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d982c53e8f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3d982c53e8f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3d982c53e8f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97b0f696a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g3d97b0f696a_0_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3d97b0f696a_0_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203" name="Google Shape;203;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97c8136a1_0_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3d97c8136a1_0_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243" name="Google Shape;243;g3d97c8136a1_0_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d97c8136a1_0_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3d97c8136a1_0_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267" name="Google Shape;267;g3d97c8136a1_0_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d97c8136a1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g3d97c8136a1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289" name="Google Shape;289;g3d97c8136a1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d982c53e8f_3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3d982c53e8f_3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08" name="Google Shape;308;g3d982c53e8f_3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427894" y="530103"/>
            <a:ext cx="5267656" cy="1731951"/>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lt1"/>
              </a:buClr>
              <a:buSzPts val="2701"/>
              <a:buFont typeface="Helvetica Neue"/>
              <a:buNone/>
              <a:defRPr b="1" i="0">
                <a:solidFill>
                  <a:schemeClr val="l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427896" y="2479367"/>
            <a:ext cx="5267655" cy="978607"/>
          </a:xfrm>
          <a:prstGeom prst="rect">
            <a:avLst/>
          </a:prstGeom>
          <a:noFill/>
          <a:ln>
            <a:noFill/>
          </a:ln>
        </p:spPr>
        <p:txBody>
          <a:bodyPr anchorCtr="0" anchor="t" bIns="45700" lIns="91425" spcFirstLastPara="1" rIns="91425" wrap="square" tIns="45700">
            <a:normAutofit/>
          </a:bodyPr>
          <a:lstStyle>
            <a:lvl1pPr lvl="0" algn="l">
              <a:spcBef>
                <a:spcPts val="450"/>
              </a:spcBef>
              <a:spcAft>
                <a:spcPts val="0"/>
              </a:spcAft>
              <a:buClr>
                <a:schemeClr val="lt1"/>
              </a:buClr>
              <a:buSzPts val="2251"/>
              <a:buNone/>
              <a:defRPr b="1" i="0" sz="2251">
                <a:solidFill>
                  <a:schemeClr val="lt1"/>
                </a:solidFill>
                <a:latin typeface="Helvetica Neue"/>
                <a:ea typeface="Helvetica Neue"/>
                <a:cs typeface="Helvetica Neue"/>
                <a:sym typeface="Helvetica Neue"/>
              </a:defRPr>
            </a:lvl1pPr>
            <a:lvl2pPr lvl="1" algn="ctr">
              <a:spcBef>
                <a:spcPts val="420"/>
              </a:spcBef>
              <a:spcAft>
                <a:spcPts val="0"/>
              </a:spcAft>
              <a:buClr>
                <a:srgbClr val="888888"/>
              </a:buClr>
              <a:buSzPts val="2101"/>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19" name="Google Shape;19;p2"/>
          <p:cNvSpPr txBox="1"/>
          <p:nvPr>
            <p:ph idx="12" type="sldNum"/>
          </p:nvPr>
        </p:nvSpPr>
        <p:spPr>
          <a:xfrm>
            <a:off x="427896" y="6124651"/>
            <a:ext cx="393097"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
        <p:nvSpPr>
          <p:cNvPr id="21" name="Google Shape;21;p3"/>
          <p:cNvSpPr txBox="1"/>
          <p:nvPr>
            <p:ph idx="10" type="dt"/>
          </p:nvPr>
        </p:nvSpPr>
        <p:spPr>
          <a:xfrm>
            <a:off x="457200" y="6356356"/>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p3"/>
          <p:cNvSpPr txBox="1"/>
          <p:nvPr>
            <p:ph idx="11" type="ftr"/>
          </p:nvPr>
        </p:nvSpPr>
        <p:spPr>
          <a:xfrm>
            <a:off x="3124200" y="6356356"/>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3"/>
          <p:cNvSpPr txBox="1"/>
          <p:nvPr>
            <p:ph idx="12" type="sldNum"/>
          </p:nvPr>
        </p:nvSpPr>
        <p:spPr>
          <a:xfrm>
            <a:off x="427896" y="6070861"/>
            <a:ext cx="393097"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4" name="Shape 24"/>
        <p:cNvGrpSpPr/>
        <p:nvPr/>
      </p:nvGrpSpPr>
      <p:grpSpPr>
        <a:xfrm>
          <a:off x="0" y="0"/>
          <a:ext cx="0" cy="0"/>
          <a:chOff x="0" y="0"/>
          <a:chExt cx="0" cy="0"/>
        </a:xfrm>
      </p:grpSpPr>
      <p:sp>
        <p:nvSpPr>
          <p:cNvPr id="25" name="Google Shape;25;p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002D50"/>
              </a:buClr>
              <a:buSzPts val="1500"/>
              <a:buFont typeface="Helvetica Neue"/>
              <a:buNone/>
              <a:defRPr b="1"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p:nvPr>
            <p:ph idx="2" type="pic"/>
          </p:nvPr>
        </p:nvSpPr>
        <p:spPr>
          <a:xfrm>
            <a:off x="1792288" y="612775"/>
            <a:ext cx="5486400" cy="4114800"/>
          </a:xfrm>
          <a:prstGeom prst="rect">
            <a:avLst/>
          </a:prstGeom>
          <a:noFill/>
          <a:ln>
            <a:noFill/>
          </a:ln>
        </p:spPr>
      </p:sp>
      <p:sp>
        <p:nvSpPr>
          <p:cNvPr id="27" name="Google Shape;27;p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10"/>
              </a:spcBef>
              <a:spcAft>
                <a:spcPts val="0"/>
              </a:spcAft>
              <a:buClr>
                <a:schemeClr val="dk1"/>
              </a:buClr>
              <a:buSzPts val="1050"/>
              <a:buNone/>
              <a:defRPr sz="1050"/>
            </a:lvl1pPr>
            <a:lvl2pPr indent="-228600" lvl="1" marL="914400" algn="l">
              <a:spcBef>
                <a:spcPts val="180"/>
              </a:spcBef>
              <a:spcAft>
                <a:spcPts val="0"/>
              </a:spcAft>
              <a:buClr>
                <a:schemeClr val="dk1"/>
              </a:buClr>
              <a:buSzPts val="900"/>
              <a:buNone/>
              <a:defRPr sz="900"/>
            </a:lvl2pPr>
            <a:lvl3pPr indent="-228600" lvl="2" marL="1371600" algn="l">
              <a:spcBef>
                <a:spcPts val="150"/>
              </a:spcBef>
              <a:spcAft>
                <a:spcPts val="0"/>
              </a:spcAft>
              <a:buClr>
                <a:schemeClr val="dk1"/>
              </a:buClr>
              <a:buSzPts val="750"/>
              <a:buNone/>
              <a:defRPr sz="750"/>
            </a:lvl3pPr>
            <a:lvl4pPr indent="-228600" lvl="3" marL="1828800" algn="l">
              <a:spcBef>
                <a:spcPts val="135"/>
              </a:spcBef>
              <a:spcAft>
                <a:spcPts val="0"/>
              </a:spcAft>
              <a:buClr>
                <a:schemeClr val="dk1"/>
              </a:buClr>
              <a:buSzPts val="675"/>
              <a:buNone/>
              <a:defRPr sz="675"/>
            </a:lvl4pPr>
            <a:lvl5pPr indent="-228600" lvl="4" marL="2286000" algn="l">
              <a:spcBef>
                <a:spcPts val="135"/>
              </a:spcBef>
              <a:spcAft>
                <a:spcPts val="0"/>
              </a:spcAft>
              <a:buClr>
                <a:schemeClr val="dk1"/>
              </a:buClr>
              <a:buSzPts val="675"/>
              <a:buNone/>
              <a:defRPr sz="675"/>
            </a:lvl5pPr>
            <a:lvl6pPr indent="-228600" lvl="5" marL="2743200" algn="l">
              <a:spcBef>
                <a:spcPts val="135"/>
              </a:spcBef>
              <a:spcAft>
                <a:spcPts val="0"/>
              </a:spcAft>
              <a:buClr>
                <a:schemeClr val="dk1"/>
              </a:buClr>
              <a:buSzPts val="675"/>
              <a:buNone/>
              <a:defRPr sz="675"/>
            </a:lvl6pPr>
            <a:lvl7pPr indent="-228600" lvl="6" marL="3200400" algn="l">
              <a:spcBef>
                <a:spcPts val="135"/>
              </a:spcBef>
              <a:spcAft>
                <a:spcPts val="0"/>
              </a:spcAft>
              <a:buClr>
                <a:schemeClr val="dk1"/>
              </a:buClr>
              <a:buSzPts val="675"/>
              <a:buNone/>
              <a:defRPr sz="675"/>
            </a:lvl7pPr>
            <a:lvl8pPr indent="-228600" lvl="7" marL="3657600" algn="l">
              <a:spcBef>
                <a:spcPts val="135"/>
              </a:spcBef>
              <a:spcAft>
                <a:spcPts val="0"/>
              </a:spcAft>
              <a:buClr>
                <a:schemeClr val="dk1"/>
              </a:buClr>
              <a:buSzPts val="675"/>
              <a:buNone/>
              <a:defRPr sz="675"/>
            </a:lvl8pPr>
            <a:lvl9pPr indent="-228600" lvl="8" marL="4114800" algn="l">
              <a:spcBef>
                <a:spcPts val="135"/>
              </a:spcBef>
              <a:spcAft>
                <a:spcPts val="0"/>
              </a:spcAft>
              <a:buClr>
                <a:schemeClr val="dk1"/>
              </a:buClr>
              <a:buSzPts val="675"/>
              <a:buNone/>
              <a:defRPr sz="675"/>
            </a:lvl9pPr>
          </a:lstStyle>
          <a:p/>
        </p:txBody>
      </p:sp>
      <p:sp>
        <p:nvSpPr>
          <p:cNvPr id="28" name="Google Shape;28;p4"/>
          <p:cNvSpPr txBox="1"/>
          <p:nvPr>
            <p:ph idx="10" type="dt"/>
          </p:nvPr>
        </p:nvSpPr>
        <p:spPr>
          <a:xfrm>
            <a:off x="457200" y="6356356"/>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4"/>
          <p:cNvSpPr txBox="1"/>
          <p:nvPr>
            <p:ph idx="11" type="ftr"/>
          </p:nvPr>
        </p:nvSpPr>
        <p:spPr>
          <a:xfrm>
            <a:off x="3124200" y="6356356"/>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4"/>
          <p:cNvSpPr txBox="1"/>
          <p:nvPr>
            <p:ph idx="12" type="sldNum"/>
          </p:nvPr>
        </p:nvSpPr>
        <p:spPr>
          <a:xfrm>
            <a:off x="427896" y="6070861"/>
            <a:ext cx="393097"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5"/>
          <p:cNvSpPr txBox="1"/>
          <p:nvPr>
            <p:ph type="title"/>
          </p:nvPr>
        </p:nvSpPr>
        <p:spPr>
          <a:xfrm>
            <a:off x="213474" y="341769"/>
            <a:ext cx="8686426" cy="87896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213474" y="1338867"/>
            <a:ext cx="8686426" cy="426271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6"/>
          <p:cNvSpPr txBox="1"/>
          <p:nvPr>
            <p:ph type="title"/>
          </p:nvPr>
        </p:nvSpPr>
        <p:spPr>
          <a:xfrm>
            <a:off x="722313" y="4406906"/>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3001"/>
              <a:buFont typeface="Helvetica Neue"/>
              <a:buNone/>
              <a:defRPr b="1" sz="300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270"/>
              </a:spcBef>
              <a:spcAft>
                <a:spcPts val="0"/>
              </a:spcAft>
              <a:buClr>
                <a:srgbClr val="888888"/>
              </a:buClr>
              <a:buSzPts val="1350"/>
              <a:buNone/>
              <a:defRPr sz="1350">
                <a:solidFill>
                  <a:srgbClr val="888888"/>
                </a:solidFill>
              </a:defRPr>
            </a:lvl2pPr>
            <a:lvl3pPr indent="-228600" lvl="2" marL="1371600" algn="l">
              <a:spcBef>
                <a:spcPts val="240"/>
              </a:spcBef>
              <a:spcAft>
                <a:spcPts val="0"/>
              </a:spcAft>
              <a:buClr>
                <a:srgbClr val="888888"/>
              </a:buClr>
              <a:buSzPts val="1200"/>
              <a:buNone/>
              <a:defRPr sz="1200">
                <a:solidFill>
                  <a:srgbClr val="888888"/>
                </a:solidFill>
              </a:defRPr>
            </a:lvl3pPr>
            <a:lvl4pPr indent="-228600" lvl="3" marL="1828800" algn="l">
              <a:spcBef>
                <a:spcPts val="210"/>
              </a:spcBef>
              <a:spcAft>
                <a:spcPts val="0"/>
              </a:spcAft>
              <a:buClr>
                <a:srgbClr val="888888"/>
              </a:buClr>
              <a:buSzPts val="1050"/>
              <a:buNone/>
              <a:defRPr sz="1050">
                <a:solidFill>
                  <a:srgbClr val="888888"/>
                </a:solidFill>
              </a:defRPr>
            </a:lvl4pPr>
            <a:lvl5pPr indent="-228600" lvl="4" marL="2286000" algn="l">
              <a:spcBef>
                <a:spcPts val="210"/>
              </a:spcBef>
              <a:spcAft>
                <a:spcPts val="0"/>
              </a:spcAft>
              <a:buClr>
                <a:srgbClr val="888888"/>
              </a:buClr>
              <a:buSzPts val="1050"/>
              <a:buNone/>
              <a:defRPr sz="1050">
                <a:solidFill>
                  <a:srgbClr val="888888"/>
                </a:solidFill>
              </a:defRPr>
            </a:lvl5pPr>
            <a:lvl6pPr indent="-228600" lvl="5" marL="2743200" algn="l">
              <a:spcBef>
                <a:spcPts val="210"/>
              </a:spcBef>
              <a:spcAft>
                <a:spcPts val="0"/>
              </a:spcAft>
              <a:buClr>
                <a:srgbClr val="888888"/>
              </a:buClr>
              <a:buSzPts val="1050"/>
              <a:buNone/>
              <a:defRPr sz="1050">
                <a:solidFill>
                  <a:srgbClr val="888888"/>
                </a:solidFill>
              </a:defRPr>
            </a:lvl6pPr>
            <a:lvl7pPr indent="-228600" lvl="6" marL="3200400" algn="l">
              <a:spcBef>
                <a:spcPts val="210"/>
              </a:spcBef>
              <a:spcAft>
                <a:spcPts val="0"/>
              </a:spcAft>
              <a:buClr>
                <a:srgbClr val="888888"/>
              </a:buClr>
              <a:buSzPts val="1050"/>
              <a:buNone/>
              <a:defRPr sz="1050">
                <a:solidFill>
                  <a:srgbClr val="888888"/>
                </a:solidFill>
              </a:defRPr>
            </a:lvl7pPr>
            <a:lvl8pPr indent="-228600" lvl="7" marL="3657600" algn="l">
              <a:spcBef>
                <a:spcPts val="210"/>
              </a:spcBef>
              <a:spcAft>
                <a:spcPts val="0"/>
              </a:spcAft>
              <a:buClr>
                <a:srgbClr val="888888"/>
              </a:buClr>
              <a:buSzPts val="1050"/>
              <a:buNone/>
              <a:defRPr sz="1050">
                <a:solidFill>
                  <a:srgbClr val="888888"/>
                </a:solidFill>
              </a:defRPr>
            </a:lvl8pPr>
            <a:lvl9pPr indent="-228600" lvl="8" marL="4114800" algn="l">
              <a:spcBef>
                <a:spcPts val="210"/>
              </a:spcBef>
              <a:spcAft>
                <a:spcPts val="0"/>
              </a:spcAft>
              <a:buClr>
                <a:srgbClr val="888888"/>
              </a:buClr>
              <a:buSzPts val="1050"/>
              <a:buNone/>
              <a:defRPr sz="1050">
                <a:solidFill>
                  <a:srgbClr val="888888"/>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37" name="Shape 37"/>
        <p:cNvGrpSpPr/>
        <p:nvPr/>
      </p:nvGrpSpPr>
      <p:grpSpPr>
        <a:xfrm>
          <a:off x="0" y="0"/>
          <a:ext cx="0" cy="0"/>
          <a:chOff x="0" y="0"/>
          <a:chExt cx="0" cy="0"/>
        </a:xfrm>
      </p:grpSpPr>
      <p:sp>
        <p:nvSpPr>
          <p:cNvPr id="38" name="Google Shape;38;p7"/>
          <p:cNvSpPr txBox="1"/>
          <p:nvPr>
            <p:ph type="title"/>
          </p:nvPr>
        </p:nvSpPr>
        <p:spPr>
          <a:xfrm>
            <a:off x="213474" y="341769"/>
            <a:ext cx="8686426" cy="87896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7"/>
          <p:cNvSpPr txBox="1"/>
          <p:nvPr>
            <p:ph idx="12" type="sldNum"/>
          </p:nvPr>
        </p:nvSpPr>
        <p:spPr>
          <a:xfrm>
            <a:off x="427896" y="6070861"/>
            <a:ext cx="393097"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0" name="Shape 40"/>
        <p:cNvGrpSpPr/>
        <p:nvPr/>
      </p:nvGrpSpPr>
      <p:grpSpPr>
        <a:xfrm>
          <a:off x="0" y="0"/>
          <a:ext cx="0" cy="0"/>
          <a:chOff x="0" y="0"/>
          <a:chExt cx="0" cy="0"/>
        </a:xfrm>
      </p:grpSpPr>
      <p:sp>
        <p:nvSpPr>
          <p:cNvPr id="41" name="Google Shape;41;p8"/>
          <p:cNvSpPr txBox="1"/>
          <p:nvPr>
            <p:ph type="title"/>
          </p:nvPr>
        </p:nvSpPr>
        <p:spPr>
          <a:xfrm>
            <a:off x="213474" y="341769"/>
            <a:ext cx="8686426" cy="87896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8"/>
          <p:cNvSpPr txBox="1"/>
          <p:nvPr>
            <p:ph idx="12" type="sldNum"/>
          </p:nvPr>
        </p:nvSpPr>
        <p:spPr>
          <a:xfrm>
            <a:off x="427896" y="6070861"/>
            <a:ext cx="393097"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9"/>
          <p:cNvSpPr txBox="1"/>
          <p:nvPr>
            <p:ph type="title"/>
          </p:nvPr>
        </p:nvSpPr>
        <p:spPr>
          <a:xfrm>
            <a:off x="213474" y="341769"/>
            <a:ext cx="8686426" cy="87896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9"/>
          <p:cNvSpPr txBox="1"/>
          <p:nvPr>
            <p:ph idx="1" type="body"/>
          </p:nvPr>
        </p:nvSpPr>
        <p:spPr>
          <a:xfrm>
            <a:off x="457200" y="1600206"/>
            <a:ext cx="4038600" cy="4525963"/>
          </a:xfrm>
          <a:prstGeom prst="rect">
            <a:avLst/>
          </a:prstGeom>
          <a:noFill/>
          <a:ln>
            <a:noFill/>
          </a:ln>
        </p:spPr>
        <p:txBody>
          <a:bodyPr anchorCtr="0" anchor="t" bIns="45700" lIns="91425" spcFirstLastPara="1" rIns="91425" wrap="square" tIns="45700">
            <a:normAutofit/>
          </a:bodyPr>
          <a:lstStyle>
            <a:lvl1pPr indent="-362014" lvl="0" marL="457200" algn="l">
              <a:spcBef>
                <a:spcPts val="420"/>
              </a:spcBef>
              <a:spcAft>
                <a:spcPts val="0"/>
              </a:spcAft>
              <a:buClr>
                <a:schemeClr val="dk1"/>
              </a:buClr>
              <a:buSzPts val="2101"/>
              <a:buChar char="•"/>
              <a:defRPr sz="2101"/>
            </a:lvl1pPr>
            <a:lvl2pPr indent="-342900" lvl="1" marL="914400" algn="l">
              <a:spcBef>
                <a:spcPts val="36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4325" lvl="3" marL="1828800" algn="l">
              <a:spcBef>
                <a:spcPts val="270"/>
              </a:spcBef>
              <a:spcAft>
                <a:spcPts val="0"/>
              </a:spcAft>
              <a:buClr>
                <a:schemeClr val="dk1"/>
              </a:buClr>
              <a:buSzPts val="1350"/>
              <a:buChar char="–"/>
              <a:defRPr sz="1350"/>
            </a:lvl4pPr>
            <a:lvl5pPr indent="-314325" lvl="4" marL="2286000" algn="l">
              <a:spcBef>
                <a:spcPts val="270"/>
              </a:spcBef>
              <a:spcAft>
                <a:spcPts val="0"/>
              </a:spcAft>
              <a:buClr>
                <a:schemeClr val="dk1"/>
              </a:buClr>
              <a:buSzPts val="1350"/>
              <a:buChar char="»"/>
              <a:defRPr sz="1350"/>
            </a:lvl5pPr>
            <a:lvl6pPr indent="-314325" lvl="5" marL="2743200" algn="l">
              <a:spcBef>
                <a:spcPts val="270"/>
              </a:spcBef>
              <a:spcAft>
                <a:spcPts val="0"/>
              </a:spcAft>
              <a:buClr>
                <a:schemeClr val="dk1"/>
              </a:buClr>
              <a:buSzPts val="1350"/>
              <a:buChar char="•"/>
              <a:defRPr sz="1350"/>
            </a:lvl6pPr>
            <a:lvl7pPr indent="-314325" lvl="6" marL="3200400" algn="l">
              <a:spcBef>
                <a:spcPts val="270"/>
              </a:spcBef>
              <a:spcAft>
                <a:spcPts val="0"/>
              </a:spcAft>
              <a:buClr>
                <a:schemeClr val="dk1"/>
              </a:buClr>
              <a:buSzPts val="1350"/>
              <a:buChar char="•"/>
              <a:defRPr sz="1350"/>
            </a:lvl7pPr>
            <a:lvl8pPr indent="-314325" lvl="7" marL="3657600" algn="l">
              <a:spcBef>
                <a:spcPts val="270"/>
              </a:spcBef>
              <a:spcAft>
                <a:spcPts val="0"/>
              </a:spcAft>
              <a:buClr>
                <a:schemeClr val="dk1"/>
              </a:buClr>
              <a:buSzPts val="1350"/>
              <a:buChar char="•"/>
              <a:defRPr sz="1350"/>
            </a:lvl8pPr>
            <a:lvl9pPr indent="-314325" lvl="8" marL="4114800" algn="l">
              <a:spcBef>
                <a:spcPts val="270"/>
              </a:spcBef>
              <a:spcAft>
                <a:spcPts val="0"/>
              </a:spcAft>
              <a:buClr>
                <a:schemeClr val="dk1"/>
              </a:buClr>
              <a:buSzPts val="1350"/>
              <a:buChar char="•"/>
              <a:defRPr sz="1350"/>
            </a:lvl9pPr>
          </a:lstStyle>
          <a:p/>
        </p:txBody>
      </p:sp>
      <p:sp>
        <p:nvSpPr>
          <p:cNvPr id="46" name="Google Shape;46;p9"/>
          <p:cNvSpPr txBox="1"/>
          <p:nvPr>
            <p:ph idx="2" type="body"/>
          </p:nvPr>
        </p:nvSpPr>
        <p:spPr>
          <a:xfrm>
            <a:off x="4648200" y="1600206"/>
            <a:ext cx="4038600" cy="4525963"/>
          </a:xfrm>
          <a:prstGeom prst="rect">
            <a:avLst/>
          </a:prstGeom>
          <a:noFill/>
          <a:ln>
            <a:noFill/>
          </a:ln>
        </p:spPr>
        <p:txBody>
          <a:bodyPr anchorCtr="0" anchor="t" bIns="45700" lIns="91425" spcFirstLastPara="1" rIns="91425" wrap="square" tIns="45700">
            <a:normAutofit/>
          </a:bodyPr>
          <a:lstStyle>
            <a:lvl1pPr indent="-362014" lvl="0" marL="457200" algn="l">
              <a:spcBef>
                <a:spcPts val="420"/>
              </a:spcBef>
              <a:spcAft>
                <a:spcPts val="0"/>
              </a:spcAft>
              <a:buClr>
                <a:schemeClr val="dk1"/>
              </a:buClr>
              <a:buSzPts val="2101"/>
              <a:buChar char="•"/>
              <a:defRPr sz="2101"/>
            </a:lvl1pPr>
            <a:lvl2pPr indent="-342900" lvl="1" marL="914400" algn="l">
              <a:spcBef>
                <a:spcPts val="36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4325" lvl="3" marL="1828800" algn="l">
              <a:spcBef>
                <a:spcPts val="270"/>
              </a:spcBef>
              <a:spcAft>
                <a:spcPts val="0"/>
              </a:spcAft>
              <a:buClr>
                <a:schemeClr val="dk1"/>
              </a:buClr>
              <a:buSzPts val="1350"/>
              <a:buChar char="–"/>
              <a:defRPr sz="1350"/>
            </a:lvl4pPr>
            <a:lvl5pPr indent="-314325" lvl="4" marL="2286000" algn="l">
              <a:spcBef>
                <a:spcPts val="270"/>
              </a:spcBef>
              <a:spcAft>
                <a:spcPts val="0"/>
              </a:spcAft>
              <a:buClr>
                <a:schemeClr val="dk1"/>
              </a:buClr>
              <a:buSzPts val="1350"/>
              <a:buChar char="»"/>
              <a:defRPr sz="1350"/>
            </a:lvl5pPr>
            <a:lvl6pPr indent="-314325" lvl="5" marL="2743200" algn="l">
              <a:spcBef>
                <a:spcPts val="270"/>
              </a:spcBef>
              <a:spcAft>
                <a:spcPts val="0"/>
              </a:spcAft>
              <a:buClr>
                <a:schemeClr val="dk1"/>
              </a:buClr>
              <a:buSzPts val="1350"/>
              <a:buChar char="•"/>
              <a:defRPr sz="1350"/>
            </a:lvl6pPr>
            <a:lvl7pPr indent="-314325" lvl="6" marL="3200400" algn="l">
              <a:spcBef>
                <a:spcPts val="270"/>
              </a:spcBef>
              <a:spcAft>
                <a:spcPts val="0"/>
              </a:spcAft>
              <a:buClr>
                <a:schemeClr val="dk1"/>
              </a:buClr>
              <a:buSzPts val="1350"/>
              <a:buChar char="•"/>
              <a:defRPr sz="1350"/>
            </a:lvl7pPr>
            <a:lvl8pPr indent="-314325" lvl="7" marL="3657600" algn="l">
              <a:spcBef>
                <a:spcPts val="270"/>
              </a:spcBef>
              <a:spcAft>
                <a:spcPts val="0"/>
              </a:spcAft>
              <a:buClr>
                <a:schemeClr val="dk1"/>
              </a:buClr>
              <a:buSzPts val="1350"/>
              <a:buChar char="•"/>
              <a:defRPr sz="1350"/>
            </a:lvl8pPr>
            <a:lvl9pPr indent="-314325" lvl="8" marL="4114800" algn="l">
              <a:spcBef>
                <a:spcPts val="270"/>
              </a:spcBef>
              <a:spcAft>
                <a:spcPts val="0"/>
              </a:spcAft>
              <a:buClr>
                <a:schemeClr val="dk1"/>
              </a:buClr>
              <a:buSzPts val="1350"/>
              <a:buChar char="•"/>
              <a:defRPr sz="1350"/>
            </a:lvl9pPr>
          </a:lstStyle>
          <a:p/>
        </p:txBody>
      </p:sp>
      <p:sp>
        <p:nvSpPr>
          <p:cNvPr id="47" name="Google Shape;47;p9"/>
          <p:cNvSpPr txBox="1"/>
          <p:nvPr>
            <p:ph idx="10" type="dt"/>
          </p:nvPr>
        </p:nvSpPr>
        <p:spPr>
          <a:xfrm>
            <a:off x="457200" y="6356356"/>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9"/>
          <p:cNvSpPr txBox="1"/>
          <p:nvPr>
            <p:ph idx="11" type="ftr"/>
          </p:nvPr>
        </p:nvSpPr>
        <p:spPr>
          <a:xfrm>
            <a:off x="3124200" y="6356356"/>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9"/>
          <p:cNvSpPr txBox="1"/>
          <p:nvPr>
            <p:ph idx="12" type="sldNum"/>
          </p:nvPr>
        </p:nvSpPr>
        <p:spPr>
          <a:xfrm>
            <a:off x="427896" y="6070861"/>
            <a:ext cx="393097"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10"/>
          <p:cNvSpPr txBox="1"/>
          <p:nvPr>
            <p:ph type="title"/>
          </p:nvPr>
        </p:nvSpPr>
        <p:spPr>
          <a:xfrm>
            <a:off x="213474" y="341769"/>
            <a:ext cx="8686426" cy="87896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2701"/>
              <a:buFont typeface="Helvetica Neu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36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270"/>
              </a:spcBef>
              <a:spcAft>
                <a:spcPts val="0"/>
              </a:spcAft>
              <a:buClr>
                <a:schemeClr val="dk1"/>
              </a:buClr>
              <a:buSzPts val="1350"/>
              <a:buNone/>
              <a:defRPr b="1" sz="1350"/>
            </a:lvl3pPr>
            <a:lvl4pPr indent="-228600" lvl="3" marL="1828800" algn="l">
              <a:spcBef>
                <a:spcPts val="240"/>
              </a:spcBef>
              <a:spcAft>
                <a:spcPts val="0"/>
              </a:spcAft>
              <a:buClr>
                <a:schemeClr val="dk1"/>
              </a:buClr>
              <a:buSzPts val="1200"/>
              <a:buNone/>
              <a:defRPr b="1" sz="1200"/>
            </a:lvl4pPr>
            <a:lvl5pPr indent="-228600" lvl="4" marL="2286000" algn="l">
              <a:spcBef>
                <a:spcPts val="240"/>
              </a:spcBef>
              <a:spcAft>
                <a:spcPts val="0"/>
              </a:spcAft>
              <a:buClr>
                <a:schemeClr val="dk1"/>
              </a:buClr>
              <a:buSzPts val="1200"/>
              <a:buNone/>
              <a:defRPr b="1" sz="1200"/>
            </a:lvl5pPr>
            <a:lvl6pPr indent="-228600" lvl="5" marL="2743200" algn="l">
              <a:spcBef>
                <a:spcPts val="240"/>
              </a:spcBef>
              <a:spcAft>
                <a:spcPts val="0"/>
              </a:spcAft>
              <a:buClr>
                <a:schemeClr val="dk1"/>
              </a:buClr>
              <a:buSzPts val="1200"/>
              <a:buNone/>
              <a:defRPr b="1" sz="1200"/>
            </a:lvl6pPr>
            <a:lvl7pPr indent="-228600" lvl="6" marL="3200400" algn="l">
              <a:spcBef>
                <a:spcPts val="240"/>
              </a:spcBef>
              <a:spcAft>
                <a:spcPts val="0"/>
              </a:spcAft>
              <a:buClr>
                <a:schemeClr val="dk1"/>
              </a:buClr>
              <a:buSzPts val="1200"/>
              <a:buNone/>
              <a:defRPr b="1" sz="1200"/>
            </a:lvl7pPr>
            <a:lvl8pPr indent="-228600" lvl="7" marL="3657600" algn="l">
              <a:spcBef>
                <a:spcPts val="240"/>
              </a:spcBef>
              <a:spcAft>
                <a:spcPts val="0"/>
              </a:spcAft>
              <a:buClr>
                <a:schemeClr val="dk1"/>
              </a:buClr>
              <a:buSzPts val="1200"/>
              <a:buNone/>
              <a:defRPr b="1" sz="1200"/>
            </a:lvl8pPr>
            <a:lvl9pPr indent="-228600" lvl="8" marL="4114800" algn="l">
              <a:spcBef>
                <a:spcPts val="240"/>
              </a:spcBef>
              <a:spcAft>
                <a:spcPts val="0"/>
              </a:spcAft>
              <a:buClr>
                <a:schemeClr val="dk1"/>
              </a:buClr>
              <a:buSzPts val="1200"/>
              <a:buNone/>
              <a:defRPr b="1" sz="1200"/>
            </a:lvl9pPr>
          </a:lstStyle>
          <a:p/>
        </p:txBody>
      </p:sp>
      <p:sp>
        <p:nvSpPr>
          <p:cNvPr id="53" name="Google Shape;53;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4325" lvl="2" marL="1371600" algn="l">
              <a:spcBef>
                <a:spcPts val="270"/>
              </a:spcBef>
              <a:spcAft>
                <a:spcPts val="0"/>
              </a:spcAft>
              <a:buClr>
                <a:schemeClr val="dk1"/>
              </a:buClr>
              <a:buSzPts val="1350"/>
              <a:buChar char="•"/>
              <a:defRPr sz="1350"/>
            </a:lvl3pPr>
            <a:lvl4pPr indent="-304800" lvl="3" marL="1828800" algn="l">
              <a:spcBef>
                <a:spcPts val="240"/>
              </a:spcBef>
              <a:spcAft>
                <a:spcPts val="0"/>
              </a:spcAft>
              <a:buClr>
                <a:schemeClr val="dk1"/>
              </a:buClr>
              <a:buSzPts val="1200"/>
              <a:buChar char="–"/>
              <a:defRPr sz="1200"/>
            </a:lvl4pPr>
            <a:lvl5pPr indent="-304800" lvl="4" marL="2286000" algn="l">
              <a:spcBef>
                <a:spcPts val="240"/>
              </a:spcBef>
              <a:spcAft>
                <a:spcPts val="0"/>
              </a:spcAft>
              <a:buClr>
                <a:schemeClr val="dk1"/>
              </a:buClr>
              <a:buSzPts val="1200"/>
              <a:buChar char="»"/>
              <a:defRPr sz="1200"/>
            </a:lvl5pPr>
            <a:lvl6pPr indent="-304800" lvl="5" marL="2743200" algn="l">
              <a:spcBef>
                <a:spcPts val="240"/>
              </a:spcBef>
              <a:spcAft>
                <a:spcPts val="0"/>
              </a:spcAft>
              <a:buClr>
                <a:schemeClr val="dk1"/>
              </a:buClr>
              <a:buSzPts val="1200"/>
              <a:buChar char="•"/>
              <a:defRPr sz="1200"/>
            </a:lvl6pPr>
            <a:lvl7pPr indent="-304800" lvl="6" marL="3200400" algn="l">
              <a:spcBef>
                <a:spcPts val="240"/>
              </a:spcBef>
              <a:spcAft>
                <a:spcPts val="0"/>
              </a:spcAft>
              <a:buClr>
                <a:schemeClr val="dk1"/>
              </a:buClr>
              <a:buSzPts val="1200"/>
              <a:buChar char="•"/>
              <a:defRPr sz="1200"/>
            </a:lvl7pPr>
            <a:lvl8pPr indent="-304800" lvl="7" marL="3657600" algn="l">
              <a:spcBef>
                <a:spcPts val="240"/>
              </a:spcBef>
              <a:spcAft>
                <a:spcPts val="0"/>
              </a:spcAft>
              <a:buClr>
                <a:schemeClr val="dk1"/>
              </a:buClr>
              <a:buSzPts val="1200"/>
              <a:buChar char="•"/>
              <a:defRPr sz="1200"/>
            </a:lvl8pPr>
            <a:lvl9pPr indent="-304800" lvl="8" marL="4114800" algn="l">
              <a:spcBef>
                <a:spcPts val="240"/>
              </a:spcBef>
              <a:spcAft>
                <a:spcPts val="0"/>
              </a:spcAft>
              <a:buClr>
                <a:schemeClr val="dk1"/>
              </a:buClr>
              <a:buSzPts val="1200"/>
              <a:buChar char="•"/>
              <a:defRPr sz="1200"/>
            </a:lvl9pPr>
          </a:lstStyle>
          <a:p/>
        </p:txBody>
      </p:sp>
      <p:sp>
        <p:nvSpPr>
          <p:cNvPr id="54" name="Google Shape;54;p1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36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270"/>
              </a:spcBef>
              <a:spcAft>
                <a:spcPts val="0"/>
              </a:spcAft>
              <a:buClr>
                <a:schemeClr val="dk1"/>
              </a:buClr>
              <a:buSzPts val="1350"/>
              <a:buNone/>
              <a:defRPr b="1" sz="1350"/>
            </a:lvl3pPr>
            <a:lvl4pPr indent="-228600" lvl="3" marL="1828800" algn="l">
              <a:spcBef>
                <a:spcPts val="240"/>
              </a:spcBef>
              <a:spcAft>
                <a:spcPts val="0"/>
              </a:spcAft>
              <a:buClr>
                <a:schemeClr val="dk1"/>
              </a:buClr>
              <a:buSzPts val="1200"/>
              <a:buNone/>
              <a:defRPr b="1" sz="1200"/>
            </a:lvl4pPr>
            <a:lvl5pPr indent="-228600" lvl="4" marL="2286000" algn="l">
              <a:spcBef>
                <a:spcPts val="240"/>
              </a:spcBef>
              <a:spcAft>
                <a:spcPts val="0"/>
              </a:spcAft>
              <a:buClr>
                <a:schemeClr val="dk1"/>
              </a:buClr>
              <a:buSzPts val="1200"/>
              <a:buNone/>
              <a:defRPr b="1" sz="1200"/>
            </a:lvl5pPr>
            <a:lvl6pPr indent="-228600" lvl="5" marL="2743200" algn="l">
              <a:spcBef>
                <a:spcPts val="240"/>
              </a:spcBef>
              <a:spcAft>
                <a:spcPts val="0"/>
              </a:spcAft>
              <a:buClr>
                <a:schemeClr val="dk1"/>
              </a:buClr>
              <a:buSzPts val="1200"/>
              <a:buNone/>
              <a:defRPr b="1" sz="1200"/>
            </a:lvl6pPr>
            <a:lvl7pPr indent="-228600" lvl="6" marL="3200400" algn="l">
              <a:spcBef>
                <a:spcPts val="240"/>
              </a:spcBef>
              <a:spcAft>
                <a:spcPts val="0"/>
              </a:spcAft>
              <a:buClr>
                <a:schemeClr val="dk1"/>
              </a:buClr>
              <a:buSzPts val="1200"/>
              <a:buNone/>
              <a:defRPr b="1" sz="1200"/>
            </a:lvl7pPr>
            <a:lvl8pPr indent="-228600" lvl="7" marL="3657600" algn="l">
              <a:spcBef>
                <a:spcPts val="240"/>
              </a:spcBef>
              <a:spcAft>
                <a:spcPts val="0"/>
              </a:spcAft>
              <a:buClr>
                <a:schemeClr val="dk1"/>
              </a:buClr>
              <a:buSzPts val="1200"/>
              <a:buNone/>
              <a:defRPr b="1" sz="1200"/>
            </a:lvl8pPr>
            <a:lvl9pPr indent="-228600" lvl="8" marL="4114800" algn="l">
              <a:spcBef>
                <a:spcPts val="240"/>
              </a:spcBef>
              <a:spcAft>
                <a:spcPts val="0"/>
              </a:spcAft>
              <a:buClr>
                <a:schemeClr val="dk1"/>
              </a:buClr>
              <a:buSzPts val="1200"/>
              <a:buNone/>
              <a:defRPr b="1" sz="1200"/>
            </a:lvl9pPr>
          </a:lstStyle>
          <a:p/>
        </p:txBody>
      </p:sp>
      <p:sp>
        <p:nvSpPr>
          <p:cNvPr id="55" name="Google Shape;55;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4325" lvl="2" marL="1371600" algn="l">
              <a:spcBef>
                <a:spcPts val="270"/>
              </a:spcBef>
              <a:spcAft>
                <a:spcPts val="0"/>
              </a:spcAft>
              <a:buClr>
                <a:schemeClr val="dk1"/>
              </a:buClr>
              <a:buSzPts val="1350"/>
              <a:buChar char="•"/>
              <a:defRPr sz="1350"/>
            </a:lvl3pPr>
            <a:lvl4pPr indent="-304800" lvl="3" marL="1828800" algn="l">
              <a:spcBef>
                <a:spcPts val="240"/>
              </a:spcBef>
              <a:spcAft>
                <a:spcPts val="0"/>
              </a:spcAft>
              <a:buClr>
                <a:schemeClr val="dk1"/>
              </a:buClr>
              <a:buSzPts val="1200"/>
              <a:buChar char="–"/>
              <a:defRPr sz="1200"/>
            </a:lvl4pPr>
            <a:lvl5pPr indent="-304800" lvl="4" marL="2286000" algn="l">
              <a:spcBef>
                <a:spcPts val="240"/>
              </a:spcBef>
              <a:spcAft>
                <a:spcPts val="0"/>
              </a:spcAft>
              <a:buClr>
                <a:schemeClr val="dk1"/>
              </a:buClr>
              <a:buSzPts val="1200"/>
              <a:buChar char="»"/>
              <a:defRPr sz="1200"/>
            </a:lvl5pPr>
            <a:lvl6pPr indent="-304800" lvl="5" marL="2743200" algn="l">
              <a:spcBef>
                <a:spcPts val="240"/>
              </a:spcBef>
              <a:spcAft>
                <a:spcPts val="0"/>
              </a:spcAft>
              <a:buClr>
                <a:schemeClr val="dk1"/>
              </a:buClr>
              <a:buSzPts val="1200"/>
              <a:buChar char="•"/>
              <a:defRPr sz="1200"/>
            </a:lvl6pPr>
            <a:lvl7pPr indent="-304800" lvl="6" marL="3200400" algn="l">
              <a:spcBef>
                <a:spcPts val="240"/>
              </a:spcBef>
              <a:spcAft>
                <a:spcPts val="0"/>
              </a:spcAft>
              <a:buClr>
                <a:schemeClr val="dk1"/>
              </a:buClr>
              <a:buSzPts val="1200"/>
              <a:buChar char="•"/>
              <a:defRPr sz="1200"/>
            </a:lvl7pPr>
            <a:lvl8pPr indent="-304800" lvl="7" marL="3657600" algn="l">
              <a:spcBef>
                <a:spcPts val="240"/>
              </a:spcBef>
              <a:spcAft>
                <a:spcPts val="0"/>
              </a:spcAft>
              <a:buClr>
                <a:schemeClr val="dk1"/>
              </a:buClr>
              <a:buSzPts val="1200"/>
              <a:buChar char="•"/>
              <a:defRPr sz="1200"/>
            </a:lvl8pPr>
            <a:lvl9pPr indent="-304800" lvl="8" marL="4114800" algn="l">
              <a:spcBef>
                <a:spcPts val="240"/>
              </a:spcBef>
              <a:spcAft>
                <a:spcPts val="0"/>
              </a:spcAft>
              <a:buClr>
                <a:schemeClr val="dk1"/>
              </a:buClr>
              <a:buSzPts val="1200"/>
              <a:buChar char="•"/>
              <a:defRPr sz="1200"/>
            </a:lvl9pPr>
          </a:lstStyle>
          <a:p/>
        </p:txBody>
      </p:sp>
      <p:sp>
        <p:nvSpPr>
          <p:cNvPr id="56" name="Google Shape;56;p10"/>
          <p:cNvSpPr txBox="1"/>
          <p:nvPr>
            <p:ph idx="10" type="dt"/>
          </p:nvPr>
        </p:nvSpPr>
        <p:spPr>
          <a:xfrm>
            <a:off x="457200" y="6356356"/>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10"/>
          <p:cNvSpPr txBox="1"/>
          <p:nvPr>
            <p:ph idx="11" type="ftr"/>
          </p:nvPr>
        </p:nvSpPr>
        <p:spPr>
          <a:xfrm>
            <a:off x="3124200" y="6356356"/>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2" type="sldNum"/>
          </p:nvPr>
        </p:nvSpPr>
        <p:spPr>
          <a:xfrm>
            <a:off x="427896" y="6070861"/>
            <a:ext cx="393097"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11"/>
          <p:cNvSpPr txBox="1"/>
          <p:nvPr>
            <p:ph type="title"/>
          </p:nvPr>
        </p:nvSpPr>
        <p:spPr>
          <a:xfrm>
            <a:off x="213474" y="341769"/>
            <a:ext cx="8686426" cy="87896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1"/>
          <p:cNvSpPr txBox="1"/>
          <p:nvPr>
            <p:ph idx="10" type="dt"/>
          </p:nvPr>
        </p:nvSpPr>
        <p:spPr>
          <a:xfrm>
            <a:off x="457200" y="6356356"/>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3124200" y="6356356"/>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427896" y="6070861"/>
            <a:ext cx="393097"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457203"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002D50"/>
              </a:buClr>
              <a:buSzPts val="1500"/>
              <a:buFont typeface="Helvetica Neue"/>
              <a:buNone/>
              <a:defRPr b="1"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2"/>
          <p:cNvSpPr txBox="1"/>
          <p:nvPr>
            <p:ph idx="1" type="body"/>
          </p:nvPr>
        </p:nvSpPr>
        <p:spPr>
          <a:xfrm>
            <a:off x="3575050" y="273056"/>
            <a:ext cx="5111750" cy="5853113"/>
          </a:xfrm>
          <a:prstGeom prst="rect">
            <a:avLst/>
          </a:prstGeom>
          <a:noFill/>
          <a:ln>
            <a:noFill/>
          </a:ln>
        </p:spPr>
        <p:txBody>
          <a:bodyPr anchorCtr="0" anchor="t" bIns="45700" lIns="91425" spcFirstLastPara="1" rIns="91425" wrap="square" tIns="45700">
            <a:normAutofit/>
          </a:bodyPr>
          <a:lstStyle>
            <a:lvl1pPr indent="-381064" lvl="0" marL="457200" algn="l">
              <a:spcBef>
                <a:spcPts val="480"/>
              </a:spcBef>
              <a:spcAft>
                <a:spcPts val="0"/>
              </a:spcAft>
              <a:buClr>
                <a:schemeClr val="dk1"/>
              </a:buClr>
              <a:buSzPts val="2401"/>
              <a:buChar char="•"/>
              <a:defRPr sz="2401"/>
            </a:lvl1pPr>
            <a:lvl2pPr indent="-362014" lvl="1" marL="914400" algn="l">
              <a:spcBef>
                <a:spcPts val="420"/>
              </a:spcBef>
              <a:spcAft>
                <a:spcPts val="0"/>
              </a:spcAft>
              <a:buClr>
                <a:schemeClr val="dk1"/>
              </a:buClr>
              <a:buSzPts val="2101"/>
              <a:buChar char="–"/>
              <a:defRPr sz="2101"/>
            </a:lvl2pPr>
            <a:lvl3pPr indent="-342900" lvl="2" marL="1371600" algn="l">
              <a:spcBef>
                <a:spcPts val="36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67" name="Google Shape;67;p12"/>
          <p:cNvSpPr txBox="1"/>
          <p:nvPr>
            <p:ph idx="2" type="body"/>
          </p:nvPr>
        </p:nvSpPr>
        <p:spPr>
          <a:xfrm>
            <a:off x="457203" y="1435103"/>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10"/>
              </a:spcBef>
              <a:spcAft>
                <a:spcPts val="0"/>
              </a:spcAft>
              <a:buClr>
                <a:schemeClr val="dk1"/>
              </a:buClr>
              <a:buSzPts val="1050"/>
              <a:buNone/>
              <a:defRPr sz="1050"/>
            </a:lvl1pPr>
            <a:lvl2pPr indent="-228600" lvl="1" marL="914400" algn="l">
              <a:spcBef>
                <a:spcPts val="180"/>
              </a:spcBef>
              <a:spcAft>
                <a:spcPts val="0"/>
              </a:spcAft>
              <a:buClr>
                <a:schemeClr val="dk1"/>
              </a:buClr>
              <a:buSzPts val="900"/>
              <a:buNone/>
              <a:defRPr sz="900"/>
            </a:lvl2pPr>
            <a:lvl3pPr indent="-228600" lvl="2" marL="1371600" algn="l">
              <a:spcBef>
                <a:spcPts val="150"/>
              </a:spcBef>
              <a:spcAft>
                <a:spcPts val="0"/>
              </a:spcAft>
              <a:buClr>
                <a:schemeClr val="dk1"/>
              </a:buClr>
              <a:buSzPts val="750"/>
              <a:buNone/>
              <a:defRPr sz="750"/>
            </a:lvl3pPr>
            <a:lvl4pPr indent="-228600" lvl="3" marL="1828800" algn="l">
              <a:spcBef>
                <a:spcPts val="135"/>
              </a:spcBef>
              <a:spcAft>
                <a:spcPts val="0"/>
              </a:spcAft>
              <a:buClr>
                <a:schemeClr val="dk1"/>
              </a:buClr>
              <a:buSzPts val="675"/>
              <a:buNone/>
              <a:defRPr sz="675"/>
            </a:lvl4pPr>
            <a:lvl5pPr indent="-228600" lvl="4" marL="2286000" algn="l">
              <a:spcBef>
                <a:spcPts val="135"/>
              </a:spcBef>
              <a:spcAft>
                <a:spcPts val="0"/>
              </a:spcAft>
              <a:buClr>
                <a:schemeClr val="dk1"/>
              </a:buClr>
              <a:buSzPts val="675"/>
              <a:buNone/>
              <a:defRPr sz="675"/>
            </a:lvl5pPr>
            <a:lvl6pPr indent="-228600" lvl="5" marL="2743200" algn="l">
              <a:spcBef>
                <a:spcPts val="135"/>
              </a:spcBef>
              <a:spcAft>
                <a:spcPts val="0"/>
              </a:spcAft>
              <a:buClr>
                <a:schemeClr val="dk1"/>
              </a:buClr>
              <a:buSzPts val="675"/>
              <a:buNone/>
              <a:defRPr sz="675"/>
            </a:lvl6pPr>
            <a:lvl7pPr indent="-228600" lvl="6" marL="3200400" algn="l">
              <a:spcBef>
                <a:spcPts val="135"/>
              </a:spcBef>
              <a:spcAft>
                <a:spcPts val="0"/>
              </a:spcAft>
              <a:buClr>
                <a:schemeClr val="dk1"/>
              </a:buClr>
              <a:buSzPts val="675"/>
              <a:buNone/>
              <a:defRPr sz="675"/>
            </a:lvl7pPr>
            <a:lvl8pPr indent="-228600" lvl="7" marL="3657600" algn="l">
              <a:spcBef>
                <a:spcPts val="135"/>
              </a:spcBef>
              <a:spcAft>
                <a:spcPts val="0"/>
              </a:spcAft>
              <a:buClr>
                <a:schemeClr val="dk1"/>
              </a:buClr>
              <a:buSzPts val="675"/>
              <a:buNone/>
              <a:defRPr sz="675"/>
            </a:lvl8pPr>
            <a:lvl9pPr indent="-228600" lvl="8" marL="4114800" algn="l">
              <a:spcBef>
                <a:spcPts val="135"/>
              </a:spcBef>
              <a:spcAft>
                <a:spcPts val="0"/>
              </a:spcAft>
              <a:buClr>
                <a:schemeClr val="dk1"/>
              </a:buClr>
              <a:buSzPts val="675"/>
              <a:buNone/>
              <a:defRPr sz="675"/>
            </a:lvl9pPr>
          </a:lstStyle>
          <a:p/>
        </p:txBody>
      </p:sp>
      <p:sp>
        <p:nvSpPr>
          <p:cNvPr id="68" name="Google Shape;68;p12"/>
          <p:cNvSpPr txBox="1"/>
          <p:nvPr>
            <p:ph idx="10" type="dt"/>
          </p:nvPr>
        </p:nvSpPr>
        <p:spPr>
          <a:xfrm>
            <a:off x="457200" y="6356356"/>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3124200" y="6356356"/>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427896" y="6070861"/>
            <a:ext cx="393097"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3"/>
          <p:cNvSpPr txBox="1"/>
          <p:nvPr>
            <p:ph type="title"/>
          </p:nvPr>
        </p:nvSpPr>
        <p:spPr>
          <a:xfrm>
            <a:off x="213474" y="341769"/>
            <a:ext cx="8686426" cy="87896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3"/>
          <p:cNvSpPr txBox="1"/>
          <p:nvPr>
            <p:ph idx="1" type="body"/>
          </p:nvPr>
        </p:nvSpPr>
        <p:spPr>
          <a:xfrm rot="5400000">
            <a:off x="2425331" y="-872990"/>
            <a:ext cx="4262712" cy="8686426"/>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4" name="Google Shape;74;p13"/>
          <p:cNvSpPr txBox="1"/>
          <p:nvPr>
            <p:ph idx="10" type="dt"/>
          </p:nvPr>
        </p:nvSpPr>
        <p:spPr>
          <a:xfrm>
            <a:off x="457200" y="6356356"/>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3"/>
          <p:cNvSpPr txBox="1"/>
          <p:nvPr>
            <p:ph idx="11" type="ftr"/>
          </p:nvPr>
        </p:nvSpPr>
        <p:spPr>
          <a:xfrm>
            <a:off x="3124200" y="6356356"/>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2" type="sldNum"/>
          </p:nvPr>
        </p:nvSpPr>
        <p:spPr>
          <a:xfrm>
            <a:off x="427896" y="6070861"/>
            <a:ext cx="393097"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4"/>
          <p:cNvSpPr txBox="1"/>
          <p:nvPr>
            <p:ph type="title"/>
          </p:nvPr>
        </p:nvSpPr>
        <p:spPr>
          <a:xfrm rot="5400000">
            <a:off x="4732337" y="2171707"/>
            <a:ext cx="5851525" cy="20574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4"/>
          <p:cNvSpPr txBox="1"/>
          <p:nvPr>
            <p:ph idx="1" type="body"/>
          </p:nvPr>
        </p:nvSpPr>
        <p:spPr>
          <a:xfrm rot="5400000">
            <a:off x="541338" y="190507"/>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 name="Google Shape;80;p14"/>
          <p:cNvSpPr txBox="1"/>
          <p:nvPr>
            <p:ph idx="10" type="dt"/>
          </p:nvPr>
        </p:nvSpPr>
        <p:spPr>
          <a:xfrm>
            <a:off x="457200" y="6356356"/>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1" type="ftr"/>
          </p:nvPr>
        </p:nvSpPr>
        <p:spPr>
          <a:xfrm>
            <a:off x="3124200" y="6356356"/>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2" type="sldNum"/>
          </p:nvPr>
        </p:nvSpPr>
        <p:spPr>
          <a:xfrm>
            <a:off x="427896" y="6070861"/>
            <a:ext cx="393097"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1.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1" y="6049342"/>
            <a:ext cx="9157815" cy="808658"/>
          </a:xfrm>
          <a:prstGeom prst="rect">
            <a:avLst/>
          </a:prstGeom>
          <a:solidFill>
            <a:srgbClr val="041E42"/>
          </a:solidFill>
          <a:ln cap="flat" cmpd="sng" w="9525">
            <a:solidFill>
              <a:srgbClr val="00387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Calibri"/>
              <a:ea typeface="Calibri"/>
              <a:cs typeface="Calibri"/>
              <a:sym typeface="Calibri"/>
            </a:endParaRPr>
          </a:p>
        </p:txBody>
      </p:sp>
      <p:sp>
        <p:nvSpPr>
          <p:cNvPr id="11" name="Google Shape;11;p1"/>
          <p:cNvSpPr txBox="1"/>
          <p:nvPr>
            <p:ph type="title"/>
          </p:nvPr>
        </p:nvSpPr>
        <p:spPr>
          <a:xfrm>
            <a:off x="213474" y="341769"/>
            <a:ext cx="8686426" cy="878966"/>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002D50"/>
              </a:buClr>
              <a:buSzPts val="2701"/>
              <a:buFont typeface="Helvetica Neue"/>
              <a:buNone/>
              <a:defRPr b="1" i="0" sz="2701" u="none" cap="none" strike="noStrike">
                <a:solidFill>
                  <a:srgbClr val="002D5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213474" y="1338867"/>
            <a:ext cx="8686426" cy="4262712"/>
          </a:xfrm>
          <a:prstGeom prst="rect">
            <a:avLst/>
          </a:prstGeom>
          <a:noFill/>
          <a:ln>
            <a:noFill/>
          </a:ln>
        </p:spPr>
        <p:txBody>
          <a:bodyPr anchorCtr="0" anchor="t" bIns="45700" lIns="91425" spcFirstLastPara="1" rIns="91425" wrap="square" tIns="45700">
            <a:normAutofit/>
          </a:bodyPr>
          <a:lstStyle>
            <a:lvl1pPr indent="-381064" lvl="0" marL="457200" marR="0" rtl="0" algn="l">
              <a:spcBef>
                <a:spcPts val="480"/>
              </a:spcBef>
              <a:spcAft>
                <a:spcPts val="0"/>
              </a:spcAft>
              <a:buClr>
                <a:schemeClr val="dk1"/>
              </a:buClr>
              <a:buSzPts val="2401"/>
              <a:buFont typeface="Arial"/>
              <a:buChar char="•"/>
              <a:defRPr b="0" i="0" sz="2401" u="none" cap="none" strike="noStrike">
                <a:solidFill>
                  <a:schemeClr val="dk1"/>
                </a:solidFill>
                <a:latin typeface="Arial"/>
                <a:ea typeface="Arial"/>
                <a:cs typeface="Arial"/>
                <a:sym typeface="Arial"/>
              </a:defRPr>
            </a:lvl1pPr>
            <a:lvl2pPr indent="-362014" lvl="1" marL="914400" marR="0" rtl="0" algn="l">
              <a:spcBef>
                <a:spcPts val="420"/>
              </a:spcBef>
              <a:spcAft>
                <a:spcPts val="0"/>
              </a:spcAft>
              <a:buClr>
                <a:schemeClr val="dk1"/>
              </a:buClr>
              <a:buSzPts val="2101"/>
              <a:buFont typeface="Arial"/>
              <a:buChar char="–"/>
              <a:defRPr b="0" i="0" sz="2101"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3" name="Google Shape;13;p1"/>
          <p:cNvSpPr txBox="1"/>
          <p:nvPr>
            <p:ph idx="12" type="sldNum"/>
          </p:nvPr>
        </p:nvSpPr>
        <p:spPr>
          <a:xfrm>
            <a:off x="427896" y="6070861"/>
            <a:ext cx="393097"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750" u="none" cap="none" strike="noStrike">
                <a:solidFill>
                  <a:schemeClr val="lt1"/>
                </a:solidFill>
                <a:latin typeface="Helvetica Neue"/>
                <a:ea typeface="Helvetica Neue"/>
                <a:cs typeface="Helvetica Neue"/>
                <a:sym typeface="Helvetica Neue"/>
              </a:defRPr>
            </a:lvl1pPr>
            <a:lvl2pPr indent="0" lvl="1" marL="0" marR="0" rtl="0" algn="l">
              <a:spcBef>
                <a:spcPts val="0"/>
              </a:spcBef>
              <a:buNone/>
              <a:defRPr b="0" i="0" sz="750" u="none" cap="none" strike="noStrike">
                <a:solidFill>
                  <a:schemeClr val="lt1"/>
                </a:solidFill>
                <a:latin typeface="Helvetica Neue"/>
                <a:ea typeface="Helvetica Neue"/>
                <a:cs typeface="Helvetica Neue"/>
                <a:sym typeface="Helvetica Neue"/>
              </a:defRPr>
            </a:lvl2pPr>
            <a:lvl3pPr indent="0" lvl="2" marL="0" marR="0" rtl="0" algn="l">
              <a:spcBef>
                <a:spcPts val="0"/>
              </a:spcBef>
              <a:buNone/>
              <a:defRPr b="0" i="0" sz="750" u="none" cap="none" strike="noStrike">
                <a:solidFill>
                  <a:schemeClr val="lt1"/>
                </a:solidFill>
                <a:latin typeface="Helvetica Neue"/>
                <a:ea typeface="Helvetica Neue"/>
                <a:cs typeface="Helvetica Neue"/>
                <a:sym typeface="Helvetica Neue"/>
              </a:defRPr>
            </a:lvl3pPr>
            <a:lvl4pPr indent="0" lvl="3" marL="0" marR="0" rtl="0" algn="l">
              <a:spcBef>
                <a:spcPts val="0"/>
              </a:spcBef>
              <a:buNone/>
              <a:defRPr b="0" i="0" sz="750" u="none" cap="none" strike="noStrike">
                <a:solidFill>
                  <a:schemeClr val="lt1"/>
                </a:solidFill>
                <a:latin typeface="Helvetica Neue"/>
                <a:ea typeface="Helvetica Neue"/>
                <a:cs typeface="Helvetica Neue"/>
                <a:sym typeface="Helvetica Neue"/>
              </a:defRPr>
            </a:lvl4pPr>
            <a:lvl5pPr indent="0" lvl="4" marL="0" marR="0" rtl="0" algn="l">
              <a:spcBef>
                <a:spcPts val="0"/>
              </a:spcBef>
              <a:buNone/>
              <a:defRPr b="0" i="0" sz="750" u="none" cap="none" strike="noStrike">
                <a:solidFill>
                  <a:schemeClr val="lt1"/>
                </a:solidFill>
                <a:latin typeface="Helvetica Neue"/>
                <a:ea typeface="Helvetica Neue"/>
                <a:cs typeface="Helvetica Neue"/>
                <a:sym typeface="Helvetica Neue"/>
              </a:defRPr>
            </a:lvl5pPr>
            <a:lvl6pPr indent="0" lvl="5" marL="0" marR="0" rtl="0" algn="l">
              <a:spcBef>
                <a:spcPts val="0"/>
              </a:spcBef>
              <a:buNone/>
              <a:defRPr b="0" i="0" sz="750" u="none" cap="none" strike="noStrike">
                <a:solidFill>
                  <a:schemeClr val="lt1"/>
                </a:solidFill>
                <a:latin typeface="Helvetica Neue"/>
                <a:ea typeface="Helvetica Neue"/>
                <a:cs typeface="Helvetica Neue"/>
                <a:sym typeface="Helvetica Neue"/>
              </a:defRPr>
            </a:lvl6pPr>
            <a:lvl7pPr indent="0" lvl="6" marL="0" marR="0" rtl="0" algn="l">
              <a:spcBef>
                <a:spcPts val="0"/>
              </a:spcBef>
              <a:buNone/>
              <a:defRPr b="0" i="0" sz="750" u="none" cap="none" strike="noStrike">
                <a:solidFill>
                  <a:schemeClr val="lt1"/>
                </a:solidFill>
                <a:latin typeface="Helvetica Neue"/>
                <a:ea typeface="Helvetica Neue"/>
                <a:cs typeface="Helvetica Neue"/>
                <a:sym typeface="Helvetica Neue"/>
              </a:defRPr>
            </a:lvl7pPr>
            <a:lvl8pPr indent="0" lvl="7" marL="0" marR="0" rtl="0" algn="l">
              <a:spcBef>
                <a:spcPts val="0"/>
              </a:spcBef>
              <a:buNone/>
              <a:defRPr b="0" i="0" sz="750" u="none" cap="none" strike="noStrike">
                <a:solidFill>
                  <a:schemeClr val="lt1"/>
                </a:solidFill>
                <a:latin typeface="Helvetica Neue"/>
                <a:ea typeface="Helvetica Neue"/>
                <a:cs typeface="Helvetica Neue"/>
                <a:sym typeface="Helvetica Neue"/>
              </a:defRPr>
            </a:lvl8pPr>
            <a:lvl9pPr indent="0" lvl="8" marL="0" marR="0" rtl="0" algn="l">
              <a:spcBef>
                <a:spcPts val="0"/>
              </a:spcBef>
              <a:buNone/>
              <a:defRPr b="0" i="0" sz="750" u="none" cap="none" strike="noStrike">
                <a:solidFill>
                  <a:schemeClr val="lt1"/>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US"/>
              <a:t>‹#›</a:t>
            </a:fld>
            <a:endParaRPr/>
          </a:p>
        </p:txBody>
      </p:sp>
      <p:pic>
        <p:nvPicPr>
          <p:cNvPr id="14" name="Google Shape;14;p1"/>
          <p:cNvPicPr preferRelativeResize="0"/>
          <p:nvPr/>
        </p:nvPicPr>
        <p:blipFill rotWithShape="1">
          <a:blip r:embed="rId1">
            <a:alphaModFix/>
          </a:blip>
          <a:srcRect b="0" l="0" r="0" t="0"/>
          <a:stretch/>
        </p:blipFill>
        <p:spPr>
          <a:xfrm>
            <a:off x="5831905" y="6371261"/>
            <a:ext cx="3067995" cy="223845"/>
          </a:xfrm>
          <a:prstGeom prst="rect">
            <a:avLst/>
          </a:prstGeom>
          <a:noFill/>
          <a:ln>
            <a:noFill/>
          </a:ln>
        </p:spPr>
      </p:pic>
      <p:sp>
        <p:nvSpPr>
          <p:cNvPr id="15" name="Google Shape;15;p1"/>
          <p:cNvSpPr/>
          <p:nvPr/>
        </p:nvSpPr>
        <p:spPr>
          <a:xfrm>
            <a:off x="-1" y="5956648"/>
            <a:ext cx="9144001" cy="92697"/>
          </a:xfrm>
          <a:prstGeom prst="rect">
            <a:avLst/>
          </a:prstGeom>
          <a:solidFill>
            <a:srgbClr val="BBBCB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5"/>
          <p:cNvSpPr/>
          <p:nvPr/>
        </p:nvSpPr>
        <p:spPr>
          <a:xfrm>
            <a:off x="2" y="0"/>
            <a:ext cx="9151800" cy="6858000"/>
          </a:xfrm>
          <a:prstGeom prst="rect">
            <a:avLst/>
          </a:prstGeom>
          <a:solidFill>
            <a:srgbClr val="011B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Calibri"/>
              <a:ea typeface="Calibri"/>
              <a:cs typeface="Calibri"/>
              <a:sym typeface="Calibri"/>
            </a:endParaRPr>
          </a:p>
        </p:txBody>
      </p:sp>
      <p:pic>
        <p:nvPicPr>
          <p:cNvPr id="89" name="Google Shape;89;p15"/>
          <p:cNvPicPr preferRelativeResize="0"/>
          <p:nvPr/>
        </p:nvPicPr>
        <p:blipFill rotWithShape="1">
          <a:blip r:embed="rId3">
            <a:alphaModFix/>
          </a:blip>
          <a:srcRect b="26832" l="0" r="0" t="10519"/>
          <a:stretch/>
        </p:blipFill>
        <p:spPr>
          <a:xfrm>
            <a:off x="0" y="0"/>
            <a:ext cx="9144000" cy="3136300"/>
          </a:xfrm>
          <a:prstGeom prst="rect">
            <a:avLst/>
          </a:prstGeom>
          <a:solidFill>
            <a:srgbClr val="011B39"/>
          </a:solidFill>
          <a:ln>
            <a:noFill/>
          </a:ln>
        </p:spPr>
      </p:pic>
      <p:sp>
        <p:nvSpPr>
          <p:cNvPr id="90" name="Google Shape;90;p15"/>
          <p:cNvSpPr txBox="1"/>
          <p:nvPr>
            <p:ph type="ctrTitle"/>
          </p:nvPr>
        </p:nvSpPr>
        <p:spPr>
          <a:xfrm>
            <a:off x="394353" y="3833740"/>
            <a:ext cx="6767700" cy="97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BBBCBC"/>
              </a:buClr>
              <a:buSzPts val="4050"/>
              <a:buFont typeface="Helvetica Neue"/>
              <a:buNone/>
            </a:pPr>
            <a:r>
              <a:rPr lang="en-US" sz="4051">
                <a:solidFill>
                  <a:srgbClr val="BBBCBC"/>
                </a:solidFill>
              </a:rPr>
              <a:t>It Takes More Than Seeds</a:t>
            </a:r>
            <a:endParaRPr sz="4051">
              <a:solidFill>
                <a:srgbClr val="BBBCBC"/>
              </a:solidFill>
            </a:endParaRPr>
          </a:p>
        </p:txBody>
      </p:sp>
      <p:sp>
        <p:nvSpPr>
          <p:cNvPr id="91" name="Google Shape;91;p15"/>
          <p:cNvSpPr txBox="1"/>
          <p:nvPr>
            <p:ph idx="1" type="subTitle"/>
          </p:nvPr>
        </p:nvSpPr>
        <p:spPr>
          <a:xfrm>
            <a:off x="417582" y="4705408"/>
            <a:ext cx="5942100" cy="548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1800"/>
              <a:buNone/>
            </a:pPr>
            <a:r>
              <a:rPr lang="en-US" sz="1800"/>
              <a:t>Knowledge, Capital, and Women’s Agency in Nigeria</a:t>
            </a:r>
            <a:endParaRPr/>
          </a:p>
        </p:txBody>
      </p:sp>
      <p:pic>
        <p:nvPicPr>
          <p:cNvPr id="92" name="Google Shape;92;p15"/>
          <p:cNvPicPr preferRelativeResize="0"/>
          <p:nvPr/>
        </p:nvPicPr>
        <p:blipFill rotWithShape="1">
          <a:blip r:embed="rId4">
            <a:alphaModFix/>
          </a:blip>
          <a:srcRect b="0" l="0" r="0" t="0"/>
          <a:stretch/>
        </p:blipFill>
        <p:spPr>
          <a:xfrm>
            <a:off x="6747679" y="4829777"/>
            <a:ext cx="2016788" cy="1422956"/>
          </a:xfrm>
          <a:prstGeom prst="rect">
            <a:avLst/>
          </a:prstGeom>
          <a:noFill/>
          <a:ln>
            <a:noFill/>
          </a:ln>
        </p:spPr>
      </p:pic>
      <p:sp>
        <p:nvSpPr>
          <p:cNvPr id="93" name="Google Shape;93;p15"/>
          <p:cNvSpPr txBox="1"/>
          <p:nvPr>
            <p:ph idx="1" type="subTitle"/>
          </p:nvPr>
        </p:nvSpPr>
        <p:spPr>
          <a:xfrm>
            <a:off x="417582" y="5720992"/>
            <a:ext cx="5942100" cy="5481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lt1"/>
              </a:buClr>
              <a:buSzPts val="1800"/>
              <a:buNone/>
            </a:pPr>
            <a:r>
              <a:rPr b="0" i="1" lang="en-US" sz="1700"/>
              <a:t>Arishka Nayak, Grace Huang, Yubing Han, and Abhinav Dutt</a:t>
            </a:r>
            <a:endParaRPr b="0" i="1" sz="215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type="title"/>
          </p:nvPr>
        </p:nvSpPr>
        <p:spPr>
          <a:xfrm>
            <a:off x="213473" y="236674"/>
            <a:ext cx="8686500" cy="585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D50"/>
              </a:buClr>
              <a:buSzPts val="2700"/>
              <a:buFont typeface="Helvetica Neue"/>
              <a:buNone/>
            </a:pPr>
            <a:r>
              <a:rPr lang="en-US"/>
              <a:t>Background &amp; Country Context</a:t>
            </a:r>
            <a:endParaRPr/>
          </a:p>
        </p:txBody>
      </p:sp>
      <p:sp>
        <p:nvSpPr>
          <p:cNvPr id="100" name="Google Shape;100;p16"/>
          <p:cNvSpPr txBox="1"/>
          <p:nvPr>
            <p:ph idx="1" type="body"/>
          </p:nvPr>
        </p:nvSpPr>
        <p:spPr>
          <a:xfrm>
            <a:off x="265875" y="792675"/>
            <a:ext cx="8499900" cy="5206500"/>
          </a:xfrm>
          <a:prstGeom prst="rect">
            <a:avLst/>
          </a:prstGeom>
          <a:noFill/>
          <a:ln>
            <a:noFill/>
          </a:ln>
        </p:spPr>
        <p:txBody>
          <a:bodyPr anchorCtr="0" anchor="t" bIns="45700" lIns="91425" spcFirstLastPara="1" rIns="91425" wrap="square" tIns="45700">
            <a:noAutofit/>
          </a:bodyPr>
          <a:lstStyle/>
          <a:p>
            <a:pPr indent="-279469" lvl="0" marL="257244" rtl="0" algn="l">
              <a:spcBef>
                <a:spcPts val="375"/>
              </a:spcBef>
              <a:spcAft>
                <a:spcPts val="0"/>
              </a:spcAft>
              <a:buClr>
                <a:schemeClr val="dk1"/>
              </a:buClr>
              <a:buSzPts val="1700"/>
              <a:buChar char="•"/>
            </a:pPr>
            <a:r>
              <a:rPr b="1" lang="en-US" sz="1700"/>
              <a:t>Nigeria’s agricultrual sector: </a:t>
            </a:r>
            <a:endParaRPr b="1" sz="1700"/>
          </a:p>
          <a:p>
            <a:pPr indent="0" lvl="0" marL="257244" rtl="0" algn="l">
              <a:spcBef>
                <a:spcPts val="375"/>
              </a:spcBef>
              <a:spcAft>
                <a:spcPts val="0"/>
              </a:spcAft>
              <a:buNone/>
            </a:pPr>
            <a:r>
              <a:t/>
            </a:r>
            <a:endParaRPr b="1" sz="1700"/>
          </a:p>
          <a:p>
            <a:pPr indent="0" lvl="0" marL="257244" rtl="0" algn="l">
              <a:spcBef>
                <a:spcPts val="375"/>
              </a:spcBef>
              <a:spcAft>
                <a:spcPts val="0"/>
              </a:spcAft>
              <a:buNone/>
            </a:pPr>
            <a:r>
              <a:t/>
            </a:r>
            <a:endParaRPr b="1" sz="1700"/>
          </a:p>
          <a:p>
            <a:pPr indent="0" lvl="0" marL="257244" rtl="0" algn="l">
              <a:spcBef>
                <a:spcPts val="375"/>
              </a:spcBef>
              <a:spcAft>
                <a:spcPts val="0"/>
              </a:spcAft>
              <a:buNone/>
            </a:pPr>
            <a:r>
              <a:t/>
            </a:r>
            <a:endParaRPr b="1" sz="1700"/>
          </a:p>
          <a:p>
            <a:pPr indent="-279469" lvl="0" marL="257244" rtl="0" algn="l">
              <a:spcBef>
                <a:spcPts val="375"/>
              </a:spcBef>
              <a:spcAft>
                <a:spcPts val="0"/>
              </a:spcAft>
              <a:buClr>
                <a:schemeClr val="dk1"/>
              </a:buClr>
              <a:buSzPts val="1700"/>
              <a:buChar char="•"/>
            </a:pPr>
            <a:r>
              <a:rPr b="1" lang="en-US" sz="1700"/>
              <a:t>Gender divide within agricultural sector in Nigeria</a:t>
            </a:r>
            <a:endParaRPr b="1" sz="1700"/>
          </a:p>
          <a:p>
            <a:pPr indent="-208020" lvl="1" marL="557361" rtl="0" algn="l">
              <a:spcBef>
                <a:spcPts val="375"/>
              </a:spcBef>
              <a:spcAft>
                <a:spcPts val="0"/>
              </a:spcAft>
              <a:buSzPts val="1700"/>
              <a:buChar char="–"/>
            </a:pPr>
            <a:r>
              <a:rPr lang="en-US" sz="1700"/>
              <a:t>The World Bank estimates that female plot managers in Nigeria  produce roughly 30% less per hectare than male farmers and generate 25% less output per hectare after controlling for observable household characteristics</a:t>
            </a:r>
            <a:endParaRPr sz="1700"/>
          </a:p>
          <a:p>
            <a:pPr indent="-208020" lvl="1" marL="557361" rtl="0" algn="l">
              <a:spcBef>
                <a:spcPts val="375"/>
              </a:spcBef>
              <a:spcAft>
                <a:spcPts val="0"/>
              </a:spcAft>
              <a:buSzPts val="1700"/>
              <a:buChar char="–"/>
            </a:pPr>
            <a:r>
              <a:rPr lang="en-US" sz="1700"/>
              <a:t>The aggregate cost of this difference is estimated at $2.3 billion annually, or about 0.6 percent of Nigeria’s GDP, with broader spillover gains of up to 2 percent of GDP if the productivity gap were closed (World Bank, 2023).</a:t>
            </a:r>
            <a:endParaRPr sz="1700"/>
          </a:p>
          <a:p>
            <a:pPr indent="-279469" lvl="0" marL="257244" rtl="0" algn="l">
              <a:spcBef>
                <a:spcPts val="375"/>
              </a:spcBef>
              <a:spcAft>
                <a:spcPts val="0"/>
              </a:spcAft>
              <a:buClr>
                <a:schemeClr val="dk1"/>
              </a:buClr>
              <a:buSzPts val="1700"/>
              <a:buChar char="•"/>
            </a:pPr>
            <a:r>
              <a:rPr b="1" lang="en-US" sz="1700"/>
              <a:t>Nigeria’s unique context within the African continent</a:t>
            </a:r>
            <a:endParaRPr b="1" sz="1700"/>
          </a:p>
          <a:p>
            <a:pPr indent="-208020" lvl="1" marL="557361" rtl="0" algn="l">
              <a:spcBef>
                <a:spcPts val="375"/>
              </a:spcBef>
              <a:spcAft>
                <a:spcPts val="0"/>
              </a:spcAft>
              <a:buSzPts val="1700"/>
              <a:buChar char="–"/>
            </a:pPr>
            <a:r>
              <a:rPr lang="en-US" sz="1700"/>
              <a:t>The gender gap in agricultural labor productivity in Nigeria is large relative to other sub-Saharan African contexts (Palacios-López, 2015) and it cannot be explained fully by observable differences in endowments (Mukasa, 2015). </a:t>
            </a:r>
            <a:endParaRPr sz="1700"/>
          </a:p>
          <a:p>
            <a:pPr indent="-208020" lvl="1" marL="557361" rtl="0" algn="l">
              <a:spcBef>
                <a:spcPts val="375"/>
              </a:spcBef>
              <a:spcAft>
                <a:spcPts val="0"/>
              </a:spcAft>
              <a:buSzPts val="1700"/>
              <a:buChar char="–"/>
            </a:pPr>
            <a:r>
              <a:rPr lang="en-US" sz="1700"/>
              <a:t>Female-managed plots in N. Nigeria are 42% smaller than male-managed plots.</a:t>
            </a:r>
            <a:endParaRPr sz="1700"/>
          </a:p>
          <a:p>
            <a:pPr indent="-208020" lvl="1" marL="557361" rtl="0" algn="l">
              <a:spcBef>
                <a:spcPts val="375"/>
              </a:spcBef>
              <a:spcAft>
                <a:spcPts val="0"/>
              </a:spcAft>
              <a:buSzPts val="1700"/>
              <a:buChar char="–"/>
            </a:pPr>
            <a:r>
              <a:rPr lang="en-US" sz="1700"/>
              <a:t>Women rely more heavily on female household labor per hectare and the gender productivity gap is wider in the no</a:t>
            </a:r>
            <a:r>
              <a:rPr lang="en-US" sz="1700"/>
              <a:t>r</a:t>
            </a:r>
            <a:r>
              <a:rPr lang="en-US" sz="1700"/>
              <a:t>th than in the south (Oseni, 2015). </a:t>
            </a:r>
            <a:endParaRPr sz="1700"/>
          </a:p>
          <a:p>
            <a:pPr indent="0" lvl="0" marL="557361" rtl="0" algn="l">
              <a:spcBef>
                <a:spcPts val="375"/>
              </a:spcBef>
              <a:spcAft>
                <a:spcPts val="0"/>
              </a:spcAft>
              <a:buNone/>
            </a:pPr>
            <a:r>
              <a:t/>
            </a:r>
            <a:endParaRPr sz="1350">
              <a:solidFill>
                <a:schemeClr val="accent6"/>
              </a:solidFill>
            </a:endParaRPr>
          </a:p>
        </p:txBody>
      </p:sp>
      <p:sp>
        <p:nvSpPr>
          <p:cNvPr id="101" name="Google Shape;101;p16"/>
          <p:cNvSpPr txBox="1"/>
          <p:nvPr/>
        </p:nvSpPr>
        <p:spPr>
          <a:xfrm>
            <a:off x="322088" y="1263361"/>
            <a:ext cx="2124900" cy="666900"/>
          </a:xfrm>
          <a:prstGeom prst="rect">
            <a:avLst/>
          </a:prstGeom>
          <a:solidFill>
            <a:schemeClr val="dk2"/>
          </a:solidFill>
          <a:ln>
            <a:noFill/>
          </a:ln>
        </p:spPr>
        <p:txBody>
          <a:bodyPr anchorCtr="0" anchor="ctr" bIns="159575" lIns="191475" spcFirstLastPara="1" rIns="191475" wrap="square" tIns="159575">
            <a:noAutofit/>
          </a:bodyPr>
          <a:lstStyle/>
          <a:p>
            <a:pPr indent="0" lvl="0" marL="0" marR="0" rtl="0" algn="l">
              <a:spcBef>
                <a:spcPts val="0"/>
              </a:spcBef>
              <a:spcAft>
                <a:spcPts val="0"/>
              </a:spcAft>
              <a:buNone/>
            </a:pPr>
            <a:r>
              <a:rPr b="1" lang="en-US" sz="2094">
                <a:solidFill>
                  <a:srgbClr val="FFFFFF"/>
                </a:solidFill>
                <a:latin typeface="Helvetica Neue"/>
                <a:ea typeface="Helvetica Neue"/>
                <a:cs typeface="Helvetica Neue"/>
                <a:sym typeface="Helvetica Neue"/>
              </a:rPr>
              <a:t>24% of GDP</a:t>
            </a:r>
            <a:endParaRPr b="1" sz="2094">
              <a:solidFill>
                <a:srgbClr val="FFFFFF"/>
              </a:solidFill>
              <a:latin typeface="Helvetica Neue"/>
              <a:ea typeface="Helvetica Neue"/>
              <a:cs typeface="Helvetica Neue"/>
              <a:sym typeface="Helvetica Neue"/>
            </a:endParaRPr>
          </a:p>
        </p:txBody>
      </p:sp>
      <p:sp>
        <p:nvSpPr>
          <p:cNvPr id="102" name="Google Shape;102;p16"/>
          <p:cNvSpPr txBox="1"/>
          <p:nvPr/>
        </p:nvSpPr>
        <p:spPr>
          <a:xfrm>
            <a:off x="2447063" y="1263350"/>
            <a:ext cx="2124900" cy="666900"/>
          </a:xfrm>
          <a:prstGeom prst="rect">
            <a:avLst/>
          </a:prstGeom>
          <a:noFill/>
          <a:ln cap="flat" cmpd="sng" w="8875">
            <a:solidFill>
              <a:schemeClr val="dk2"/>
            </a:solidFill>
            <a:prstDash val="solid"/>
            <a:round/>
            <a:headEnd len="sm" w="sm" type="none"/>
            <a:tailEnd len="sm" w="sm" type="none"/>
          </a:ln>
        </p:spPr>
        <p:txBody>
          <a:bodyPr anchorCtr="0" anchor="ctr" bIns="159575" lIns="191475" spcFirstLastPara="1" rIns="191475" wrap="square" tIns="159575">
            <a:noAutofit/>
          </a:bodyPr>
          <a:lstStyle/>
          <a:p>
            <a:pPr indent="0" lvl="0" marL="0" marR="0" rtl="0" algn="l">
              <a:spcBef>
                <a:spcPts val="0"/>
              </a:spcBef>
              <a:spcAft>
                <a:spcPts val="0"/>
              </a:spcAft>
              <a:buNone/>
            </a:pPr>
            <a:r>
              <a:rPr b="1" lang="en-US" sz="1349">
                <a:solidFill>
                  <a:schemeClr val="dk2"/>
                </a:solidFill>
                <a:latin typeface="Helvetica Neue"/>
                <a:ea typeface="Helvetica Neue"/>
                <a:cs typeface="Helvetica Neue"/>
                <a:sym typeface="Helvetica Neue"/>
              </a:rPr>
              <a:t>80% are smallholder farmers</a:t>
            </a:r>
            <a:endParaRPr b="1" sz="1535">
              <a:solidFill>
                <a:schemeClr val="dk2"/>
              </a:solidFill>
              <a:latin typeface="Helvetica Neue"/>
              <a:ea typeface="Helvetica Neue"/>
              <a:cs typeface="Helvetica Neue"/>
              <a:sym typeface="Helvetica Neue"/>
            </a:endParaRPr>
          </a:p>
        </p:txBody>
      </p:sp>
      <p:sp>
        <p:nvSpPr>
          <p:cNvPr id="103" name="Google Shape;103;p16"/>
          <p:cNvSpPr txBox="1"/>
          <p:nvPr/>
        </p:nvSpPr>
        <p:spPr>
          <a:xfrm>
            <a:off x="4572038" y="1263361"/>
            <a:ext cx="2124900" cy="666900"/>
          </a:xfrm>
          <a:prstGeom prst="rect">
            <a:avLst/>
          </a:prstGeom>
          <a:solidFill>
            <a:schemeClr val="dk2"/>
          </a:solidFill>
          <a:ln>
            <a:noFill/>
          </a:ln>
        </p:spPr>
        <p:txBody>
          <a:bodyPr anchorCtr="0" anchor="ctr" bIns="159575" lIns="191475" spcFirstLastPara="1" rIns="191475" wrap="square" tIns="159575">
            <a:noAutofit/>
          </a:bodyPr>
          <a:lstStyle/>
          <a:p>
            <a:pPr indent="0" lvl="0" marL="0" marR="0" rtl="0" algn="l">
              <a:spcBef>
                <a:spcPts val="0"/>
              </a:spcBef>
              <a:spcAft>
                <a:spcPts val="0"/>
              </a:spcAft>
              <a:buNone/>
            </a:pPr>
            <a:r>
              <a:rPr b="1" lang="en-US" sz="1349">
                <a:solidFill>
                  <a:srgbClr val="FFFFFF"/>
                </a:solidFill>
                <a:latin typeface="Helvetica Neue"/>
                <a:ea typeface="Helvetica Neue"/>
                <a:cs typeface="Helvetica Neue"/>
                <a:sym typeface="Helvetica Neue"/>
              </a:rPr>
              <a:t>80% of HHs in north</a:t>
            </a:r>
            <a:br>
              <a:rPr b="1" lang="en-US" sz="1349">
                <a:solidFill>
                  <a:srgbClr val="FFFFFF"/>
                </a:solidFill>
                <a:latin typeface="Helvetica Neue"/>
                <a:ea typeface="Helvetica Neue"/>
                <a:cs typeface="Helvetica Neue"/>
                <a:sym typeface="Helvetica Neue"/>
              </a:rPr>
            </a:br>
            <a:r>
              <a:rPr b="1" lang="en-US" sz="1349">
                <a:solidFill>
                  <a:srgbClr val="FFFFFF"/>
                </a:solidFill>
                <a:latin typeface="Helvetica Neue"/>
                <a:ea typeface="Helvetica Neue"/>
                <a:cs typeface="Helvetica Neue"/>
                <a:sym typeface="Helvetica Neue"/>
              </a:rPr>
              <a:t>50% of HHs in south</a:t>
            </a:r>
            <a:endParaRPr b="1" sz="1349">
              <a:solidFill>
                <a:srgbClr val="FFFFFF"/>
              </a:solidFill>
              <a:latin typeface="Helvetica Neue"/>
              <a:ea typeface="Helvetica Neue"/>
              <a:cs typeface="Helvetica Neue"/>
              <a:sym typeface="Helvetica Neue"/>
            </a:endParaRPr>
          </a:p>
        </p:txBody>
      </p:sp>
      <p:sp>
        <p:nvSpPr>
          <p:cNvPr id="104" name="Google Shape;104;p16"/>
          <p:cNvSpPr txBox="1"/>
          <p:nvPr/>
        </p:nvSpPr>
        <p:spPr>
          <a:xfrm>
            <a:off x="6697013" y="1263354"/>
            <a:ext cx="2124900" cy="666900"/>
          </a:xfrm>
          <a:prstGeom prst="rect">
            <a:avLst/>
          </a:prstGeom>
          <a:noFill/>
          <a:ln cap="flat" cmpd="sng" w="9525">
            <a:solidFill>
              <a:schemeClr val="dk1"/>
            </a:solidFill>
            <a:prstDash val="solid"/>
            <a:round/>
            <a:headEnd len="sm" w="sm" type="none"/>
            <a:tailEnd len="sm" w="sm" type="none"/>
          </a:ln>
        </p:spPr>
        <p:txBody>
          <a:bodyPr anchorCtr="0" anchor="t" bIns="85075" lIns="85075" spcFirstLastPara="1" rIns="85075" wrap="square" tIns="85075">
            <a:noAutofit/>
          </a:bodyPr>
          <a:lstStyle/>
          <a:p>
            <a:pPr indent="0" lvl="0" marL="0" rtl="0" algn="l">
              <a:spcBef>
                <a:spcPts val="0"/>
              </a:spcBef>
              <a:spcAft>
                <a:spcPts val="0"/>
              </a:spcAft>
              <a:buNone/>
            </a:pPr>
            <a:r>
              <a:rPr b="1" lang="en-US" sz="1862">
                <a:solidFill>
                  <a:schemeClr val="dk1"/>
                </a:solidFill>
              </a:rPr>
              <a:t>36.2% Women</a:t>
            </a:r>
            <a:endParaRPr b="1" sz="1862">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p:nvPr/>
        </p:nvSpPr>
        <p:spPr>
          <a:xfrm>
            <a:off x="365800" y="771725"/>
            <a:ext cx="3017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C4E0"/>
              </a:buClr>
              <a:buSzPts val="1300"/>
              <a:buFont typeface="Calibri"/>
              <a:buNone/>
            </a:pPr>
            <a:r>
              <a:rPr i="1" lang="en-US" sz="1300">
                <a:solidFill>
                  <a:schemeClr val="accent1"/>
                </a:solidFill>
                <a:latin typeface="Calibri"/>
                <a:ea typeface="Calibri"/>
                <a:cs typeface="Calibri"/>
                <a:sym typeface="Calibri"/>
              </a:rPr>
              <a:t>What is our focus?</a:t>
            </a:r>
            <a:endParaRPr sz="1300">
              <a:solidFill>
                <a:schemeClr val="accent1"/>
              </a:solidFill>
              <a:latin typeface="Calibri"/>
              <a:ea typeface="Calibri"/>
              <a:cs typeface="Calibri"/>
              <a:sym typeface="Calibri"/>
            </a:endParaRPr>
          </a:p>
        </p:txBody>
      </p:sp>
      <p:sp>
        <p:nvSpPr>
          <p:cNvPr id="111" name="Google Shape;111;p17"/>
          <p:cNvSpPr/>
          <p:nvPr/>
        </p:nvSpPr>
        <p:spPr>
          <a:xfrm>
            <a:off x="114367" y="1408345"/>
            <a:ext cx="2788800" cy="3749100"/>
          </a:xfrm>
          <a:prstGeom prst="rect">
            <a:avLst/>
          </a:prstGeom>
          <a:solidFill>
            <a:srgbClr val="FFFFFF"/>
          </a:solidFill>
          <a:ln cap="flat" cmpd="sng" w="22850">
            <a:solidFill>
              <a:srgbClr val="4A90C4"/>
            </a:solidFill>
            <a:prstDash val="solid"/>
            <a:round/>
            <a:headEnd len="sm" w="sm" type="none"/>
            <a:tailEnd len="sm" w="sm" type="none"/>
          </a:ln>
          <a:effectLst>
            <a:outerShdw blurRad="63500" rotWithShape="0" algn="bl" dir="8100000" dist="25400">
              <a:srgbClr val="000000">
                <a:alpha val="902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 name="Google Shape;112;p17"/>
          <p:cNvSpPr/>
          <p:nvPr/>
        </p:nvSpPr>
        <p:spPr>
          <a:xfrm>
            <a:off x="114367" y="1408345"/>
            <a:ext cx="2788800" cy="384000"/>
          </a:xfrm>
          <a:prstGeom prst="rect">
            <a:avLst/>
          </a:prstGeom>
          <a:solidFill>
            <a:srgbClr val="4A90C4"/>
          </a:solidFill>
          <a:ln cap="flat" cmpd="sng" w="12700">
            <a:solidFill>
              <a:srgbClr val="4A90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 name="Google Shape;113;p17"/>
          <p:cNvSpPr/>
          <p:nvPr/>
        </p:nvSpPr>
        <p:spPr>
          <a:xfrm>
            <a:off x="160088" y="1408345"/>
            <a:ext cx="26976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THE PROBLEM</a:t>
            </a:r>
            <a:endParaRPr sz="1050">
              <a:solidFill>
                <a:srgbClr val="000000"/>
              </a:solidFill>
              <a:latin typeface="Calibri"/>
              <a:ea typeface="Calibri"/>
              <a:cs typeface="Calibri"/>
              <a:sym typeface="Calibri"/>
            </a:endParaRPr>
          </a:p>
        </p:txBody>
      </p:sp>
      <p:sp>
        <p:nvSpPr>
          <p:cNvPr id="114" name="Google Shape;114;p17"/>
          <p:cNvSpPr/>
          <p:nvPr/>
        </p:nvSpPr>
        <p:spPr>
          <a:xfrm>
            <a:off x="251527" y="1865545"/>
            <a:ext cx="2514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F3C"/>
              </a:buClr>
              <a:buSzPts val="1300"/>
              <a:buFont typeface="Calibri"/>
              <a:buNone/>
            </a:pPr>
            <a:r>
              <a:rPr b="1" lang="en-US" sz="1300">
                <a:solidFill>
                  <a:srgbClr val="0D1F3C"/>
                </a:solidFill>
                <a:latin typeface="Calibri"/>
                <a:ea typeface="Calibri"/>
                <a:cs typeface="Calibri"/>
                <a:sym typeface="Calibri"/>
              </a:rPr>
              <a:t>Unexplained gap</a:t>
            </a:r>
            <a:endParaRPr sz="1300">
              <a:solidFill>
                <a:srgbClr val="000000"/>
              </a:solidFill>
              <a:latin typeface="Calibri"/>
              <a:ea typeface="Calibri"/>
              <a:cs typeface="Calibri"/>
              <a:sym typeface="Calibri"/>
            </a:endParaRPr>
          </a:p>
        </p:txBody>
      </p:sp>
      <p:sp>
        <p:nvSpPr>
          <p:cNvPr id="115" name="Google Shape;115;p17"/>
          <p:cNvSpPr/>
          <p:nvPr/>
        </p:nvSpPr>
        <p:spPr>
          <a:xfrm>
            <a:off x="251527" y="2322745"/>
            <a:ext cx="2514600" cy="2697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F3C"/>
              </a:buClr>
              <a:buSzPts val="1150"/>
              <a:buFont typeface="Calibri"/>
              <a:buNone/>
            </a:pPr>
            <a:r>
              <a:rPr lang="en-US" sz="1250">
                <a:solidFill>
                  <a:srgbClr val="0D1F3C"/>
                </a:solidFill>
                <a:latin typeface="Calibri"/>
                <a:ea typeface="Calibri"/>
                <a:cs typeface="Calibri"/>
                <a:sym typeface="Calibri"/>
              </a:rPr>
              <a:t>77%  of the productivity difference between male and female farmers is attributable to unexplained structural factors rather than to differences in endowments (Mukasa, 2015).</a:t>
            </a:r>
            <a:endParaRPr sz="1250">
              <a:solidFill>
                <a:srgbClr val="0D1F3C"/>
              </a:solidFill>
              <a:latin typeface="Calibri"/>
              <a:ea typeface="Calibri"/>
              <a:cs typeface="Calibri"/>
              <a:sym typeface="Calibri"/>
            </a:endParaRPr>
          </a:p>
          <a:p>
            <a:pPr indent="0" lvl="0" marL="0" marR="0" rtl="0" algn="l">
              <a:spcBef>
                <a:spcPts val="0"/>
              </a:spcBef>
              <a:spcAft>
                <a:spcPts val="0"/>
              </a:spcAft>
              <a:buClr>
                <a:srgbClr val="0D1F3C"/>
              </a:buClr>
              <a:buSzPts val="1150"/>
              <a:buFont typeface="Calibri"/>
              <a:buNone/>
            </a:pPr>
            <a:r>
              <a:t/>
            </a:r>
            <a:endParaRPr sz="1250">
              <a:solidFill>
                <a:srgbClr val="0D1F3C"/>
              </a:solidFill>
              <a:latin typeface="Calibri"/>
              <a:ea typeface="Calibri"/>
              <a:cs typeface="Calibri"/>
              <a:sym typeface="Calibri"/>
            </a:endParaRPr>
          </a:p>
          <a:p>
            <a:pPr indent="0" lvl="0" marL="0" marR="0" rtl="0" algn="l">
              <a:spcBef>
                <a:spcPts val="0"/>
              </a:spcBef>
              <a:spcAft>
                <a:spcPts val="0"/>
              </a:spcAft>
              <a:buClr>
                <a:srgbClr val="0D1F3C"/>
              </a:buClr>
              <a:buSzPts val="1150"/>
              <a:buFont typeface="Calibri"/>
              <a:buNone/>
            </a:pPr>
            <a:r>
              <a:rPr lang="en-US" sz="1250">
                <a:solidFill>
                  <a:srgbClr val="0D1F3C"/>
                </a:solidFill>
                <a:latin typeface="Calibri"/>
                <a:ea typeface="Calibri"/>
                <a:cs typeface="Calibri"/>
                <a:sym typeface="Calibri"/>
              </a:rPr>
              <a:t>interventions that target only the observable aspects of the gap, such as inputs or credit, are unlikely to generate durable gains if the underlying institutional and social mechanisms remain unchanged.</a:t>
            </a:r>
            <a:endParaRPr sz="1250">
              <a:solidFill>
                <a:srgbClr val="0D1F3C"/>
              </a:solidFill>
              <a:latin typeface="Calibri"/>
              <a:ea typeface="Calibri"/>
              <a:cs typeface="Calibri"/>
              <a:sym typeface="Calibri"/>
            </a:endParaRPr>
          </a:p>
          <a:p>
            <a:pPr indent="0" lvl="0" marL="0" marR="0" rtl="0" algn="l">
              <a:spcBef>
                <a:spcPts val="0"/>
              </a:spcBef>
              <a:spcAft>
                <a:spcPts val="0"/>
              </a:spcAft>
              <a:buClr>
                <a:srgbClr val="0D1F3C"/>
              </a:buClr>
              <a:buSzPts val="1150"/>
              <a:buFont typeface="Calibri"/>
              <a:buNone/>
            </a:pPr>
            <a:r>
              <a:t/>
            </a:r>
            <a:endParaRPr sz="1250">
              <a:solidFill>
                <a:srgbClr val="0D1F3C"/>
              </a:solidFill>
              <a:latin typeface="Calibri"/>
              <a:ea typeface="Calibri"/>
              <a:cs typeface="Calibri"/>
              <a:sym typeface="Calibri"/>
            </a:endParaRPr>
          </a:p>
        </p:txBody>
      </p:sp>
      <p:sp>
        <p:nvSpPr>
          <p:cNvPr id="116" name="Google Shape;116;p17"/>
          <p:cNvSpPr/>
          <p:nvPr/>
        </p:nvSpPr>
        <p:spPr>
          <a:xfrm>
            <a:off x="3177607" y="1408345"/>
            <a:ext cx="2788800" cy="3749100"/>
          </a:xfrm>
          <a:prstGeom prst="rect">
            <a:avLst/>
          </a:prstGeom>
          <a:solidFill>
            <a:srgbClr val="FFFFFF"/>
          </a:solidFill>
          <a:ln cap="flat" cmpd="sng" w="22850">
            <a:solidFill>
              <a:srgbClr val="2E8B8B"/>
            </a:solidFill>
            <a:prstDash val="solid"/>
            <a:round/>
            <a:headEnd len="sm" w="sm" type="none"/>
            <a:tailEnd len="sm" w="sm" type="none"/>
          </a:ln>
          <a:effectLst>
            <a:outerShdw blurRad="63500" rotWithShape="0" algn="bl" dir="8100000" dist="25400">
              <a:srgbClr val="000000">
                <a:alpha val="902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 name="Google Shape;117;p17"/>
          <p:cNvSpPr/>
          <p:nvPr/>
        </p:nvSpPr>
        <p:spPr>
          <a:xfrm>
            <a:off x="3177607" y="1408345"/>
            <a:ext cx="2788800" cy="384000"/>
          </a:xfrm>
          <a:prstGeom prst="rect">
            <a:avLst/>
          </a:prstGeom>
          <a:solidFill>
            <a:srgbClr val="2E8B8B"/>
          </a:solidFill>
          <a:ln cap="flat" cmpd="sng" w="12700">
            <a:solidFill>
              <a:srgbClr val="2E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 name="Google Shape;118;p17"/>
          <p:cNvSpPr/>
          <p:nvPr/>
        </p:nvSpPr>
        <p:spPr>
          <a:xfrm>
            <a:off x="3223328" y="1408345"/>
            <a:ext cx="26976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THE CONSEQUENCE</a:t>
            </a:r>
            <a:endParaRPr sz="1050">
              <a:solidFill>
                <a:srgbClr val="000000"/>
              </a:solidFill>
              <a:latin typeface="Calibri"/>
              <a:ea typeface="Calibri"/>
              <a:cs typeface="Calibri"/>
              <a:sym typeface="Calibri"/>
            </a:endParaRPr>
          </a:p>
        </p:txBody>
      </p:sp>
      <p:sp>
        <p:nvSpPr>
          <p:cNvPr id="119" name="Google Shape;119;p17"/>
          <p:cNvSpPr/>
          <p:nvPr/>
        </p:nvSpPr>
        <p:spPr>
          <a:xfrm>
            <a:off x="3314768" y="1865545"/>
            <a:ext cx="2514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F3C"/>
              </a:buClr>
              <a:buSzPts val="1300"/>
              <a:buFont typeface="Calibri"/>
              <a:buNone/>
            </a:pPr>
            <a:r>
              <a:rPr b="1" lang="en-US" sz="1300">
                <a:solidFill>
                  <a:srgbClr val="0D1F3C"/>
                </a:solidFill>
                <a:latin typeface="Calibri"/>
                <a:ea typeface="Calibri"/>
                <a:cs typeface="Calibri"/>
                <a:sym typeface="Calibri"/>
              </a:rPr>
              <a:t>Reinforcement of gap</a:t>
            </a:r>
            <a:endParaRPr sz="1300">
              <a:solidFill>
                <a:srgbClr val="000000"/>
              </a:solidFill>
              <a:latin typeface="Calibri"/>
              <a:ea typeface="Calibri"/>
              <a:cs typeface="Calibri"/>
              <a:sym typeface="Calibri"/>
            </a:endParaRPr>
          </a:p>
        </p:txBody>
      </p:sp>
      <p:sp>
        <p:nvSpPr>
          <p:cNvPr id="120" name="Google Shape;120;p17"/>
          <p:cNvSpPr/>
          <p:nvPr/>
        </p:nvSpPr>
        <p:spPr>
          <a:xfrm>
            <a:off x="3314768" y="2322745"/>
            <a:ext cx="2514600" cy="26976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Productive resources such as land, credit, inputs, and knowledge are more often directed toward men than toward women, reinforcing the perception that men are the farm’s legitimate economic agents while women are dependents rather than contributors (Oseni, 2015). </a:t>
            </a:r>
            <a:endParaRPr sz="1200">
              <a:solidFill>
                <a:schemeClr val="dk1"/>
              </a:solidFill>
              <a:latin typeface="Calibri"/>
              <a:ea typeface="Calibri"/>
              <a:cs typeface="Calibri"/>
              <a:sym typeface="Calibri"/>
            </a:endParaRPr>
          </a:p>
          <a:p>
            <a:pPr indent="0" lvl="0" marL="0" rtl="0" algn="just">
              <a:lnSpc>
                <a:spcPct val="115000"/>
              </a:lnSpc>
              <a:spcBef>
                <a:spcPts val="10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 identity of the resource recipient shapes productive outcomes in ways that aggregate quantities of inputs alone cannot capture.</a:t>
            </a:r>
            <a:endParaRPr sz="1200">
              <a:solidFill>
                <a:schemeClr val="dk1"/>
              </a:solidFill>
              <a:latin typeface="Calibri"/>
              <a:ea typeface="Calibri"/>
              <a:cs typeface="Calibri"/>
              <a:sym typeface="Calibri"/>
            </a:endParaRPr>
          </a:p>
          <a:p>
            <a:pPr indent="0" lvl="0" marL="0" rtl="0" algn="just">
              <a:lnSpc>
                <a:spcPct val="115000"/>
              </a:lnSpc>
              <a:spcBef>
                <a:spcPts val="1000"/>
              </a:spcBef>
              <a:spcAft>
                <a:spcPts val="1000"/>
              </a:spcAft>
              <a:buClr>
                <a:schemeClr val="dk1"/>
              </a:buClr>
              <a:buSzPts val="1100"/>
              <a:buFont typeface="Arial"/>
              <a:buNone/>
            </a:pPr>
            <a:r>
              <a:t/>
            </a:r>
            <a:endParaRPr sz="1200">
              <a:solidFill>
                <a:schemeClr val="dk1"/>
              </a:solidFill>
              <a:latin typeface="Calibri"/>
              <a:ea typeface="Calibri"/>
              <a:cs typeface="Calibri"/>
              <a:sym typeface="Calibri"/>
            </a:endParaRPr>
          </a:p>
        </p:txBody>
      </p:sp>
      <p:sp>
        <p:nvSpPr>
          <p:cNvPr id="121" name="Google Shape;121;p17"/>
          <p:cNvSpPr/>
          <p:nvPr/>
        </p:nvSpPr>
        <p:spPr>
          <a:xfrm>
            <a:off x="6240848" y="1408345"/>
            <a:ext cx="2788800" cy="3749100"/>
          </a:xfrm>
          <a:prstGeom prst="rect">
            <a:avLst/>
          </a:prstGeom>
          <a:solidFill>
            <a:srgbClr val="FFFFFF"/>
          </a:solidFill>
          <a:ln cap="flat" cmpd="sng" w="22850">
            <a:solidFill>
              <a:srgbClr val="C8A951"/>
            </a:solidFill>
            <a:prstDash val="solid"/>
            <a:round/>
            <a:headEnd len="sm" w="sm" type="none"/>
            <a:tailEnd len="sm" w="sm" type="none"/>
          </a:ln>
          <a:effectLst>
            <a:outerShdw blurRad="63500" rotWithShape="0" algn="bl" dir="8100000" dist="25400">
              <a:srgbClr val="000000">
                <a:alpha val="902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 name="Google Shape;122;p17"/>
          <p:cNvSpPr/>
          <p:nvPr/>
        </p:nvSpPr>
        <p:spPr>
          <a:xfrm>
            <a:off x="6240848" y="1408345"/>
            <a:ext cx="2788800" cy="384000"/>
          </a:xfrm>
          <a:prstGeom prst="rect">
            <a:avLst/>
          </a:prstGeom>
          <a:solidFill>
            <a:srgbClr val="C8A951"/>
          </a:solidFill>
          <a:ln cap="flat" cmpd="sng" w="12700">
            <a:solidFill>
              <a:srgbClr val="C8A95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 name="Google Shape;123;p17"/>
          <p:cNvSpPr/>
          <p:nvPr/>
        </p:nvSpPr>
        <p:spPr>
          <a:xfrm>
            <a:off x="6286568" y="1408345"/>
            <a:ext cx="26976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THE NUANCE</a:t>
            </a:r>
            <a:endParaRPr sz="1050">
              <a:solidFill>
                <a:srgbClr val="000000"/>
              </a:solidFill>
              <a:latin typeface="Calibri"/>
              <a:ea typeface="Calibri"/>
              <a:cs typeface="Calibri"/>
              <a:sym typeface="Calibri"/>
            </a:endParaRPr>
          </a:p>
        </p:txBody>
      </p:sp>
      <p:sp>
        <p:nvSpPr>
          <p:cNvPr id="124" name="Google Shape;124;p17"/>
          <p:cNvSpPr/>
          <p:nvPr/>
        </p:nvSpPr>
        <p:spPr>
          <a:xfrm>
            <a:off x="6378008" y="1865545"/>
            <a:ext cx="2514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F3C"/>
              </a:buClr>
              <a:buSzPts val="1300"/>
              <a:buFont typeface="Calibri"/>
              <a:buNone/>
            </a:pPr>
            <a:r>
              <a:rPr b="1" lang="en-US" sz="1300">
                <a:solidFill>
                  <a:srgbClr val="0D1F3C"/>
                </a:solidFill>
                <a:latin typeface="Calibri"/>
                <a:ea typeface="Calibri"/>
                <a:cs typeface="Calibri"/>
                <a:sym typeface="Calibri"/>
              </a:rPr>
              <a:t>Participation != bargaining power</a:t>
            </a:r>
            <a:endParaRPr sz="1300">
              <a:solidFill>
                <a:srgbClr val="000000"/>
              </a:solidFill>
              <a:latin typeface="Calibri"/>
              <a:ea typeface="Calibri"/>
              <a:cs typeface="Calibri"/>
              <a:sym typeface="Calibri"/>
            </a:endParaRPr>
          </a:p>
        </p:txBody>
      </p:sp>
      <p:sp>
        <p:nvSpPr>
          <p:cNvPr id="125" name="Google Shape;125;p17"/>
          <p:cNvSpPr/>
          <p:nvPr/>
        </p:nvSpPr>
        <p:spPr>
          <a:xfrm>
            <a:off x="6378008" y="2322745"/>
            <a:ext cx="2514600" cy="26976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Women’s increased participation in agricultural value chains does not necessarily improve their control over the resulting income, and male household members may capture commercially successful female managed activities (Swaans, 2015). </a:t>
            </a:r>
            <a:endParaRPr sz="1200">
              <a:solidFill>
                <a:schemeClr val="dk1"/>
              </a:solidFill>
              <a:latin typeface="Calibri"/>
              <a:ea typeface="Calibri"/>
              <a:cs typeface="Calibri"/>
              <a:sym typeface="Calibri"/>
            </a:endParaRPr>
          </a:p>
          <a:p>
            <a:pPr indent="0" lvl="0" marL="0" rtl="0" algn="just">
              <a:lnSpc>
                <a:spcPct val="115000"/>
              </a:lnSpc>
              <a:spcBef>
                <a:spcPts val="1000"/>
              </a:spcBef>
              <a:spcAft>
                <a:spcPts val="1000"/>
              </a:spcAft>
              <a:buClr>
                <a:schemeClr val="dk1"/>
              </a:buClr>
              <a:buSzPts val="1100"/>
              <a:buFont typeface="Arial"/>
              <a:buNone/>
            </a:pPr>
            <a:r>
              <a:rPr lang="en-US" sz="1200">
                <a:solidFill>
                  <a:schemeClr val="dk1"/>
                </a:solidFill>
                <a:latin typeface="Calibri"/>
                <a:ea typeface="Calibri"/>
                <a:cs typeface="Calibri"/>
                <a:sym typeface="Calibri"/>
              </a:rPr>
              <a:t>A primary reason many interventions fail is their exclusive focus on visible outputs rather than the structural drivers that sustain them (Farnworth, 2015). </a:t>
            </a:r>
            <a:endParaRPr sz="1150">
              <a:solidFill>
                <a:srgbClr val="000000"/>
              </a:solidFill>
              <a:latin typeface="Calibri"/>
              <a:ea typeface="Calibri"/>
              <a:cs typeface="Calibri"/>
              <a:sym typeface="Calibri"/>
            </a:endParaRPr>
          </a:p>
        </p:txBody>
      </p:sp>
      <p:sp>
        <p:nvSpPr>
          <p:cNvPr id="126" name="Google Shape;126;p17"/>
          <p:cNvSpPr/>
          <p:nvPr/>
        </p:nvSpPr>
        <p:spPr>
          <a:xfrm>
            <a:off x="2857568" y="3054265"/>
            <a:ext cx="3657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3259"/>
              </a:buClr>
              <a:buSzPts val="1600"/>
              <a:buFont typeface="Calibri"/>
              <a:buNone/>
            </a:pPr>
            <a:r>
              <a:t/>
            </a:r>
            <a:endParaRPr sz="1600">
              <a:solidFill>
                <a:srgbClr val="000000"/>
              </a:solidFill>
              <a:latin typeface="Calibri"/>
              <a:ea typeface="Calibri"/>
              <a:cs typeface="Calibri"/>
              <a:sym typeface="Calibri"/>
            </a:endParaRPr>
          </a:p>
        </p:txBody>
      </p:sp>
      <p:sp>
        <p:nvSpPr>
          <p:cNvPr id="127" name="Google Shape;127;p17"/>
          <p:cNvSpPr/>
          <p:nvPr/>
        </p:nvSpPr>
        <p:spPr>
          <a:xfrm>
            <a:off x="5920808" y="3054265"/>
            <a:ext cx="3657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3259"/>
              </a:buClr>
              <a:buSzPts val="1600"/>
              <a:buFont typeface="Calibri"/>
              <a:buNone/>
            </a:pPr>
            <a:r>
              <a:t/>
            </a:r>
            <a:endParaRPr sz="1600">
              <a:solidFill>
                <a:srgbClr val="000000"/>
              </a:solidFill>
              <a:latin typeface="Calibri"/>
              <a:ea typeface="Calibri"/>
              <a:cs typeface="Calibri"/>
              <a:sym typeface="Calibri"/>
            </a:endParaRPr>
          </a:p>
        </p:txBody>
      </p:sp>
      <p:sp>
        <p:nvSpPr>
          <p:cNvPr id="128" name="Google Shape;128;p17"/>
          <p:cNvSpPr/>
          <p:nvPr/>
        </p:nvSpPr>
        <p:spPr>
          <a:xfrm>
            <a:off x="365790" y="309840"/>
            <a:ext cx="8046600" cy="59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D50"/>
              </a:buClr>
              <a:buSzPts val="2700"/>
              <a:buFont typeface="Helvetica Neue"/>
              <a:buNone/>
            </a:pPr>
            <a:r>
              <a:rPr b="1" lang="en-US" sz="2701">
                <a:solidFill>
                  <a:srgbClr val="002D50"/>
                </a:solidFill>
                <a:latin typeface="Helvetica Neue"/>
                <a:ea typeface="Helvetica Neue"/>
                <a:cs typeface="Helvetica Neue"/>
                <a:sym typeface="Helvetica Neue"/>
              </a:rPr>
              <a:t>Motivation for Intervention</a:t>
            </a:r>
            <a:endParaRPr b="1" sz="2701">
              <a:solidFill>
                <a:srgbClr val="002D50"/>
              </a:solidFill>
              <a:latin typeface="Helvetica Neue"/>
              <a:ea typeface="Helvetica Neue"/>
              <a:cs typeface="Helvetica Neue"/>
              <a:sym typeface="Helvetica Neue"/>
            </a:endParaRPr>
          </a:p>
        </p:txBody>
      </p:sp>
      <p:sp>
        <p:nvSpPr>
          <p:cNvPr id="129" name="Google Shape;129;p17"/>
          <p:cNvSpPr txBox="1"/>
          <p:nvPr/>
        </p:nvSpPr>
        <p:spPr>
          <a:xfrm>
            <a:off x="24425" y="5065950"/>
            <a:ext cx="9095400" cy="1140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1000"/>
              </a:spcAft>
              <a:buClr>
                <a:schemeClr val="dk1"/>
              </a:buClr>
              <a:buSzPts val="1100"/>
              <a:buFont typeface="Arial"/>
              <a:buNone/>
            </a:pPr>
            <a:r>
              <a:rPr i="1" lang="en-US" sz="1600">
                <a:solidFill>
                  <a:schemeClr val="dk1"/>
                </a:solidFill>
                <a:highlight>
                  <a:srgbClr val="93C47D"/>
                </a:highlight>
                <a:latin typeface="Calibri"/>
                <a:ea typeface="Calibri"/>
                <a:cs typeface="Calibri"/>
                <a:sym typeface="Calibri"/>
              </a:rPr>
              <a:t>We study whether directing agricultural </a:t>
            </a:r>
            <a:r>
              <a:rPr i="1" lang="en-US" sz="1600">
                <a:solidFill>
                  <a:schemeClr val="dk1"/>
                </a:solidFill>
                <a:highlight>
                  <a:srgbClr val="93C47D"/>
                </a:highlight>
                <a:latin typeface="Calibri"/>
                <a:ea typeface="Calibri"/>
                <a:cs typeface="Calibri"/>
                <a:sym typeface="Calibri"/>
              </a:rPr>
              <a:t>extension services AND </a:t>
            </a:r>
            <a:r>
              <a:rPr i="1" lang="en-US" sz="1600">
                <a:solidFill>
                  <a:schemeClr val="dk1"/>
                </a:solidFill>
                <a:highlight>
                  <a:srgbClr val="93C47D"/>
                </a:highlight>
                <a:latin typeface="Calibri"/>
                <a:ea typeface="Calibri"/>
                <a:cs typeface="Calibri"/>
                <a:sym typeface="Calibri"/>
              </a:rPr>
              <a:t>microcredit exclusively to women increases women’s decision-making authority and control over farm resources, and whether these shifts alter their perceived role as productive contributors within the household.</a:t>
            </a:r>
            <a:endParaRPr i="1" sz="1600">
              <a:solidFill>
                <a:schemeClr val="dk1"/>
              </a:solidFill>
              <a:highlight>
                <a:srgbClr val="93C47D"/>
              </a:highlight>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8"/>
          <p:cNvSpPr/>
          <p:nvPr/>
        </p:nvSpPr>
        <p:spPr>
          <a:xfrm>
            <a:off x="365800" y="771725"/>
            <a:ext cx="3017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C4E0"/>
              </a:buClr>
              <a:buSzPts val="1300"/>
              <a:buFont typeface="Calibri"/>
              <a:buNone/>
            </a:pPr>
            <a:r>
              <a:rPr i="1" lang="en-US" sz="1300">
                <a:solidFill>
                  <a:schemeClr val="accent1"/>
                </a:solidFill>
                <a:latin typeface="Calibri"/>
                <a:ea typeface="Calibri"/>
                <a:cs typeface="Calibri"/>
                <a:sym typeface="Calibri"/>
              </a:rPr>
              <a:t>Theory of Change</a:t>
            </a:r>
            <a:endParaRPr sz="1300">
              <a:solidFill>
                <a:schemeClr val="accent1"/>
              </a:solidFill>
              <a:latin typeface="Calibri"/>
              <a:ea typeface="Calibri"/>
              <a:cs typeface="Calibri"/>
              <a:sym typeface="Calibri"/>
            </a:endParaRPr>
          </a:p>
        </p:txBody>
      </p:sp>
      <p:sp>
        <p:nvSpPr>
          <p:cNvPr id="136" name="Google Shape;136;p18"/>
          <p:cNvSpPr/>
          <p:nvPr/>
        </p:nvSpPr>
        <p:spPr>
          <a:xfrm>
            <a:off x="114367" y="1408345"/>
            <a:ext cx="2788800" cy="3749100"/>
          </a:xfrm>
          <a:prstGeom prst="rect">
            <a:avLst/>
          </a:prstGeom>
          <a:solidFill>
            <a:srgbClr val="FFFFFF"/>
          </a:solidFill>
          <a:ln cap="flat" cmpd="sng" w="22850">
            <a:solidFill>
              <a:srgbClr val="4A90C4"/>
            </a:solidFill>
            <a:prstDash val="solid"/>
            <a:round/>
            <a:headEnd len="sm" w="sm" type="none"/>
            <a:tailEnd len="sm" w="sm" type="none"/>
          </a:ln>
          <a:effectLst>
            <a:outerShdw blurRad="63500" rotWithShape="0" algn="bl" dir="8100000" dist="25400">
              <a:srgbClr val="000000">
                <a:alpha val="902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18"/>
          <p:cNvSpPr/>
          <p:nvPr/>
        </p:nvSpPr>
        <p:spPr>
          <a:xfrm>
            <a:off x="114367" y="1408345"/>
            <a:ext cx="2788800" cy="384000"/>
          </a:xfrm>
          <a:prstGeom prst="rect">
            <a:avLst/>
          </a:prstGeom>
          <a:solidFill>
            <a:srgbClr val="4A90C4"/>
          </a:solidFill>
          <a:ln cap="flat" cmpd="sng" w="12700">
            <a:solidFill>
              <a:srgbClr val="4A90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 name="Google Shape;138;p18"/>
          <p:cNvSpPr/>
          <p:nvPr/>
        </p:nvSpPr>
        <p:spPr>
          <a:xfrm>
            <a:off x="160088" y="1408345"/>
            <a:ext cx="26976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THE PROBLEM</a:t>
            </a:r>
            <a:endParaRPr sz="1050">
              <a:solidFill>
                <a:srgbClr val="000000"/>
              </a:solidFill>
              <a:latin typeface="Calibri"/>
              <a:ea typeface="Calibri"/>
              <a:cs typeface="Calibri"/>
              <a:sym typeface="Calibri"/>
            </a:endParaRPr>
          </a:p>
        </p:txBody>
      </p:sp>
      <p:sp>
        <p:nvSpPr>
          <p:cNvPr id="139" name="Google Shape;139;p18"/>
          <p:cNvSpPr/>
          <p:nvPr/>
        </p:nvSpPr>
        <p:spPr>
          <a:xfrm>
            <a:off x="251527" y="1865545"/>
            <a:ext cx="2514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F3C"/>
              </a:buClr>
              <a:buSzPts val="1300"/>
              <a:buFont typeface="Calibri"/>
              <a:buNone/>
            </a:pPr>
            <a:r>
              <a:rPr b="1" lang="en-US" sz="1300">
                <a:solidFill>
                  <a:srgbClr val="0D1F3C"/>
                </a:solidFill>
                <a:latin typeface="Calibri"/>
                <a:ea typeface="Calibri"/>
                <a:cs typeface="Calibri"/>
                <a:sym typeface="Calibri"/>
              </a:rPr>
              <a:t>Resources flow to men</a:t>
            </a:r>
            <a:endParaRPr sz="1300">
              <a:solidFill>
                <a:srgbClr val="000000"/>
              </a:solidFill>
              <a:latin typeface="Calibri"/>
              <a:ea typeface="Calibri"/>
              <a:cs typeface="Calibri"/>
              <a:sym typeface="Calibri"/>
            </a:endParaRPr>
          </a:p>
        </p:txBody>
      </p:sp>
      <p:sp>
        <p:nvSpPr>
          <p:cNvPr id="140" name="Google Shape;140;p18"/>
          <p:cNvSpPr/>
          <p:nvPr/>
        </p:nvSpPr>
        <p:spPr>
          <a:xfrm>
            <a:off x="251527" y="2322745"/>
            <a:ext cx="2514600" cy="2697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F3C"/>
              </a:buClr>
              <a:buSzPts val="1150"/>
              <a:buFont typeface="Calibri"/>
              <a:buNone/>
            </a:pPr>
            <a:r>
              <a:rPr lang="en-US" sz="1150">
                <a:solidFill>
                  <a:srgbClr val="0D1F3C"/>
                </a:solidFill>
                <a:latin typeface="Calibri"/>
                <a:ea typeface="Calibri"/>
                <a:cs typeface="Calibri"/>
                <a:sym typeface="Calibri"/>
              </a:rPr>
              <a:t>Extension, credit, and inputs go to male household heads — even when women do most of the farm labor.</a:t>
            </a:r>
            <a:endParaRPr sz="1150">
              <a:solidFill>
                <a:srgbClr val="000000"/>
              </a:solidFill>
              <a:latin typeface="Calibri"/>
              <a:ea typeface="Calibri"/>
              <a:cs typeface="Calibri"/>
              <a:sym typeface="Calibri"/>
            </a:endParaRPr>
          </a:p>
          <a:p>
            <a:pPr indent="0" lvl="0" marL="0" marR="0" rtl="0" algn="l">
              <a:spcBef>
                <a:spcPts val="0"/>
              </a:spcBef>
              <a:spcAft>
                <a:spcPts val="0"/>
              </a:spcAft>
              <a:buClr>
                <a:srgbClr val="000000"/>
              </a:buClr>
              <a:buSzPts val="1150"/>
              <a:buFont typeface="Calibri"/>
              <a:buNone/>
            </a:pPr>
            <a:r>
              <a:t/>
            </a:r>
            <a:endParaRPr sz="1150">
              <a:solidFill>
                <a:srgbClr val="000000"/>
              </a:solidFill>
              <a:latin typeface="Calibri"/>
              <a:ea typeface="Calibri"/>
              <a:cs typeface="Calibri"/>
              <a:sym typeface="Calibri"/>
            </a:endParaRPr>
          </a:p>
          <a:p>
            <a:pPr indent="0" lvl="0" marL="0" marR="0" rtl="0" algn="l">
              <a:spcBef>
                <a:spcPts val="0"/>
              </a:spcBef>
              <a:spcAft>
                <a:spcPts val="0"/>
              </a:spcAft>
              <a:buClr>
                <a:srgbClr val="0D1F3C"/>
              </a:buClr>
              <a:buSzPts val="1150"/>
              <a:buFont typeface="Calibri"/>
              <a:buNone/>
            </a:pPr>
            <a:r>
              <a:rPr lang="en-US" sz="1150">
                <a:solidFill>
                  <a:srgbClr val="0D1F3C"/>
                </a:solidFill>
                <a:latin typeface="Calibri"/>
                <a:ea typeface="Calibri"/>
                <a:cs typeface="Calibri"/>
                <a:sym typeface="Calibri"/>
              </a:rPr>
              <a:t>77% of Nigeria's productivity gap cannot be explained by observable differences alone (Mukasa &amp; Salami, 2015).</a:t>
            </a:r>
            <a:endParaRPr sz="1150">
              <a:solidFill>
                <a:srgbClr val="000000"/>
              </a:solidFill>
              <a:latin typeface="Calibri"/>
              <a:ea typeface="Calibri"/>
              <a:cs typeface="Calibri"/>
              <a:sym typeface="Calibri"/>
            </a:endParaRPr>
          </a:p>
        </p:txBody>
      </p:sp>
      <p:sp>
        <p:nvSpPr>
          <p:cNvPr id="141" name="Google Shape;141;p18"/>
          <p:cNvSpPr/>
          <p:nvPr/>
        </p:nvSpPr>
        <p:spPr>
          <a:xfrm>
            <a:off x="3177607" y="1408345"/>
            <a:ext cx="2788800" cy="3749100"/>
          </a:xfrm>
          <a:prstGeom prst="rect">
            <a:avLst/>
          </a:prstGeom>
          <a:solidFill>
            <a:srgbClr val="FFFFFF"/>
          </a:solidFill>
          <a:ln cap="flat" cmpd="sng" w="22850">
            <a:solidFill>
              <a:srgbClr val="2E8B8B"/>
            </a:solidFill>
            <a:prstDash val="solid"/>
            <a:round/>
            <a:headEnd len="sm" w="sm" type="none"/>
            <a:tailEnd len="sm" w="sm" type="none"/>
          </a:ln>
          <a:effectLst>
            <a:outerShdw blurRad="63500" rotWithShape="0" algn="bl" dir="8100000" dist="25400">
              <a:srgbClr val="000000">
                <a:alpha val="902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 name="Google Shape;142;p18"/>
          <p:cNvSpPr/>
          <p:nvPr/>
        </p:nvSpPr>
        <p:spPr>
          <a:xfrm>
            <a:off x="3177607" y="1408345"/>
            <a:ext cx="2788800" cy="384000"/>
          </a:xfrm>
          <a:prstGeom prst="rect">
            <a:avLst/>
          </a:prstGeom>
          <a:solidFill>
            <a:srgbClr val="2E8B8B"/>
          </a:solidFill>
          <a:ln cap="flat" cmpd="sng" w="12700">
            <a:solidFill>
              <a:srgbClr val="2E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18"/>
          <p:cNvSpPr/>
          <p:nvPr/>
        </p:nvSpPr>
        <p:spPr>
          <a:xfrm>
            <a:off x="3223328" y="1408345"/>
            <a:ext cx="26976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THE MECHANISM</a:t>
            </a:r>
            <a:endParaRPr sz="1050">
              <a:solidFill>
                <a:srgbClr val="000000"/>
              </a:solidFill>
              <a:latin typeface="Calibri"/>
              <a:ea typeface="Calibri"/>
              <a:cs typeface="Calibri"/>
              <a:sym typeface="Calibri"/>
            </a:endParaRPr>
          </a:p>
        </p:txBody>
      </p:sp>
      <p:sp>
        <p:nvSpPr>
          <p:cNvPr id="144" name="Google Shape;144;p18"/>
          <p:cNvSpPr/>
          <p:nvPr/>
        </p:nvSpPr>
        <p:spPr>
          <a:xfrm>
            <a:off x="3314768" y="1865545"/>
            <a:ext cx="2514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F3C"/>
              </a:buClr>
              <a:buSzPts val="1300"/>
              <a:buFont typeface="Calibri"/>
              <a:buNone/>
            </a:pPr>
            <a:r>
              <a:rPr b="1" lang="en-US" sz="1300">
                <a:solidFill>
                  <a:srgbClr val="0D1F3C"/>
                </a:solidFill>
                <a:latin typeface="Calibri"/>
                <a:ea typeface="Calibri"/>
                <a:cs typeface="Calibri"/>
                <a:sym typeface="Calibri"/>
              </a:rPr>
              <a:t>Institutional Signaling</a:t>
            </a:r>
            <a:endParaRPr sz="1300">
              <a:solidFill>
                <a:srgbClr val="000000"/>
              </a:solidFill>
              <a:latin typeface="Calibri"/>
              <a:ea typeface="Calibri"/>
              <a:cs typeface="Calibri"/>
              <a:sym typeface="Calibri"/>
            </a:endParaRPr>
          </a:p>
        </p:txBody>
      </p:sp>
      <p:sp>
        <p:nvSpPr>
          <p:cNvPr id="145" name="Google Shape;145;p18"/>
          <p:cNvSpPr/>
          <p:nvPr/>
        </p:nvSpPr>
        <p:spPr>
          <a:xfrm>
            <a:off x="3314768" y="2322745"/>
            <a:ext cx="2514600" cy="2697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F3C"/>
              </a:buClr>
              <a:buSzPts val="1150"/>
              <a:buFont typeface="Calibri"/>
              <a:buNone/>
            </a:pPr>
            <a:r>
              <a:rPr lang="en-US" sz="1150">
                <a:solidFill>
                  <a:srgbClr val="0D1F3C"/>
                </a:solidFill>
                <a:latin typeface="Calibri"/>
                <a:ea typeface="Calibri"/>
                <a:cs typeface="Calibri"/>
                <a:sym typeface="Calibri"/>
              </a:rPr>
              <a:t>When institutions name women as recipients of knowledge and capital, they shift the household perception of women as legitimate economic actors — not dependents.</a:t>
            </a:r>
            <a:endParaRPr sz="1150">
              <a:solidFill>
                <a:srgbClr val="000000"/>
              </a:solidFill>
              <a:latin typeface="Calibri"/>
              <a:ea typeface="Calibri"/>
              <a:cs typeface="Calibri"/>
              <a:sym typeface="Calibri"/>
            </a:endParaRPr>
          </a:p>
        </p:txBody>
      </p:sp>
      <p:sp>
        <p:nvSpPr>
          <p:cNvPr id="146" name="Google Shape;146;p18"/>
          <p:cNvSpPr/>
          <p:nvPr/>
        </p:nvSpPr>
        <p:spPr>
          <a:xfrm>
            <a:off x="6240848" y="1408345"/>
            <a:ext cx="2788800" cy="3749100"/>
          </a:xfrm>
          <a:prstGeom prst="rect">
            <a:avLst/>
          </a:prstGeom>
          <a:solidFill>
            <a:srgbClr val="FFFFFF"/>
          </a:solidFill>
          <a:ln cap="flat" cmpd="sng" w="22850">
            <a:solidFill>
              <a:srgbClr val="C8A951"/>
            </a:solidFill>
            <a:prstDash val="solid"/>
            <a:round/>
            <a:headEnd len="sm" w="sm" type="none"/>
            <a:tailEnd len="sm" w="sm" type="none"/>
          </a:ln>
          <a:effectLst>
            <a:outerShdw blurRad="63500" rotWithShape="0" algn="bl" dir="8100000" dist="25400">
              <a:srgbClr val="000000">
                <a:alpha val="902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 name="Google Shape;147;p18"/>
          <p:cNvSpPr/>
          <p:nvPr/>
        </p:nvSpPr>
        <p:spPr>
          <a:xfrm>
            <a:off x="6240848" y="1408345"/>
            <a:ext cx="2788800" cy="384000"/>
          </a:xfrm>
          <a:prstGeom prst="rect">
            <a:avLst/>
          </a:prstGeom>
          <a:solidFill>
            <a:srgbClr val="C8A951"/>
          </a:solidFill>
          <a:ln cap="flat" cmpd="sng" w="12700">
            <a:solidFill>
              <a:srgbClr val="C8A95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 name="Google Shape;148;p18"/>
          <p:cNvSpPr/>
          <p:nvPr/>
        </p:nvSpPr>
        <p:spPr>
          <a:xfrm>
            <a:off x="6286568" y="1408345"/>
            <a:ext cx="26976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THE INTERVENTION</a:t>
            </a:r>
            <a:endParaRPr sz="1050">
              <a:solidFill>
                <a:srgbClr val="000000"/>
              </a:solidFill>
              <a:latin typeface="Calibri"/>
              <a:ea typeface="Calibri"/>
              <a:cs typeface="Calibri"/>
              <a:sym typeface="Calibri"/>
            </a:endParaRPr>
          </a:p>
        </p:txBody>
      </p:sp>
      <p:sp>
        <p:nvSpPr>
          <p:cNvPr id="149" name="Google Shape;149;p18"/>
          <p:cNvSpPr/>
          <p:nvPr/>
        </p:nvSpPr>
        <p:spPr>
          <a:xfrm>
            <a:off x="6378008" y="1865545"/>
            <a:ext cx="2514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F3C"/>
              </a:buClr>
              <a:buSzPts val="1300"/>
              <a:buFont typeface="Calibri"/>
              <a:buNone/>
            </a:pPr>
            <a:r>
              <a:rPr b="1" lang="en-US" sz="1300">
                <a:solidFill>
                  <a:srgbClr val="0D1F3C"/>
                </a:solidFill>
                <a:latin typeface="Calibri"/>
                <a:ea typeface="Calibri"/>
                <a:cs typeface="Calibri"/>
                <a:sym typeface="Calibri"/>
              </a:rPr>
              <a:t>T1 + T2</a:t>
            </a:r>
            <a:endParaRPr sz="1300">
              <a:solidFill>
                <a:srgbClr val="000000"/>
              </a:solidFill>
              <a:latin typeface="Calibri"/>
              <a:ea typeface="Calibri"/>
              <a:cs typeface="Calibri"/>
              <a:sym typeface="Calibri"/>
            </a:endParaRPr>
          </a:p>
        </p:txBody>
      </p:sp>
      <p:sp>
        <p:nvSpPr>
          <p:cNvPr id="150" name="Google Shape;150;p18"/>
          <p:cNvSpPr/>
          <p:nvPr/>
        </p:nvSpPr>
        <p:spPr>
          <a:xfrm>
            <a:off x="6378008" y="2322745"/>
            <a:ext cx="2514600" cy="2697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90C4"/>
              </a:buClr>
              <a:buSzPts val="1150"/>
              <a:buFont typeface="Calibri"/>
              <a:buNone/>
            </a:pPr>
            <a:r>
              <a:rPr b="1" lang="en-US" sz="1150">
                <a:solidFill>
                  <a:srgbClr val="4A90C4"/>
                </a:solidFill>
                <a:latin typeface="Calibri"/>
                <a:ea typeface="Calibri"/>
                <a:cs typeface="Calibri"/>
                <a:sym typeface="Calibri"/>
              </a:rPr>
              <a:t>T1 </a:t>
            </a:r>
            <a:r>
              <a:rPr lang="en-US" sz="1150">
                <a:solidFill>
                  <a:srgbClr val="0D1F3C"/>
                </a:solidFill>
                <a:latin typeface="Calibri"/>
                <a:ea typeface="Calibri"/>
                <a:cs typeface="Calibri"/>
                <a:sym typeface="Calibri"/>
              </a:rPr>
              <a:t>Women-only extension</a:t>
            </a:r>
            <a:br>
              <a:rPr lang="en-US" sz="1150">
                <a:solidFill>
                  <a:srgbClr val="0D1F3C"/>
                </a:solidFill>
                <a:latin typeface="Calibri"/>
                <a:ea typeface="Calibri"/>
                <a:cs typeface="Calibri"/>
                <a:sym typeface="Calibri"/>
              </a:rPr>
            </a:br>
            <a:r>
              <a:rPr b="1" lang="en-US" sz="1150">
                <a:solidFill>
                  <a:srgbClr val="2E8B8B"/>
                </a:solidFill>
                <a:latin typeface="Calibri"/>
                <a:ea typeface="Calibri"/>
                <a:cs typeface="Calibri"/>
                <a:sym typeface="Calibri"/>
              </a:rPr>
              <a:t>T2 </a:t>
            </a:r>
            <a:r>
              <a:rPr lang="en-US" sz="1150">
                <a:solidFill>
                  <a:srgbClr val="0D1F3C"/>
                </a:solidFill>
                <a:latin typeface="Calibri"/>
                <a:ea typeface="Calibri"/>
                <a:cs typeface="Calibri"/>
                <a:sym typeface="Calibri"/>
              </a:rPr>
              <a:t>Extension + microcredit</a:t>
            </a:r>
            <a:br>
              <a:rPr lang="en-US" sz="1150">
                <a:solidFill>
                  <a:srgbClr val="0D1F3C"/>
                </a:solidFill>
                <a:latin typeface="Calibri"/>
                <a:ea typeface="Calibri"/>
                <a:cs typeface="Calibri"/>
                <a:sym typeface="Calibri"/>
              </a:rPr>
            </a:br>
            <a:br>
              <a:rPr lang="en-US" sz="1150">
                <a:solidFill>
                  <a:srgbClr val="0D1F3C"/>
                </a:solidFill>
                <a:latin typeface="Calibri"/>
                <a:ea typeface="Calibri"/>
                <a:cs typeface="Calibri"/>
                <a:sym typeface="Calibri"/>
              </a:rPr>
            </a:br>
            <a:r>
              <a:rPr i="1" lang="en-US" sz="1150">
                <a:solidFill>
                  <a:srgbClr val="0D1F3C"/>
                </a:solidFill>
                <a:latin typeface="Calibri"/>
                <a:ea typeface="Calibri"/>
                <a:cs typeface="Calibri"/>
                <a:sym typeface="Calibri"/>
              </a:rPr>
              <a:t>Both arms make women the publicly named recipient of resources.</a:t>
            </a:r>
            <a:endParaRPr sz="1150">
              <a:solidFill>
                <a:srgbClr val="000000"/>
              </a:solidFill>
              <a:latin typeface="Calibri"/>
              <a:ea typeface="Calibri"/>
              <a:cs typeface="Calibri"/>
              <a:sym typeface="Calibri"/>
            </a:endParaRPr>
          </a:p>
        </p:txBody>
      </p:sp>
      <p:sp>
        <p:nvSpPr>
          <p:cNvPr id="151" name="Google Shape;151;p18"/>
          <p:cNvSpPr/>
          <p:nvPr/>
        </p:nvSpPr>
        <p:spPr>
          <a:xfrm>
            <a:off x="2857568" y="3054265"/>
            <a:ext cx="3657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3259"/>
              </a:buClr>
              <a:buSzPts val="1600"/>
              <a:buFont typeface="Calibri"/>
              <a:buNone/>
            </a:pPr>
            <a:r>
              <a:rPr lang="en-US" sz="1600">
                <a:solidFill>
                  <a:srgbClr val="1A3259"/>
                </a:solidFill>
                <a:latin typeface="Calibri"/>
                <a:ea typeface="Calibri"/>
                <a:cs typeface="Calibri"/>
                <a:sym typeface="Calibri"/>
              </a:rPr>
              <a:t>→</a:t>
            </a:r>
            <a:endParaRPr sz="1600">
              <a:solidFill>
                <a:srgbClr val="000000"/>
              </a:solidFill>
              <a:latin typeface="Calibri"/>
              <a:ea typeface="Calibri"/>
              <a:cs typeface="Calibri"/>
              <a:sym typeface="Calibri"/>
            </a:endParaRPr>
          </a:p>
        </p:txBody>
      </p:sp>
      <p:sp>
        <p:nvSpPr>
          <p:cNvPr id="152" name="Google Shape;152;p18"/>
          <p:cNvSpPr/>
          <p:nvPr/>
        </p:nvSpPr>
        <p:spPr>
          <a:xfrm>
            <a:off x="5920808" y="3054265"/>
            <a:ext cx="3657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3259"/>
              </a:buClr>
              <a:buSzPts val="1600"/>
              <a:buFont typeface="Calibri"/>
              <a:buNone/>
            </a:pPr>
            <a:r>
              <a:rPr lang="en-US" sz="1600">
                <a:solidFill>
                  <a:srgbClr val="1A3259"/>
                </a:solidFill>
                <a:latin typeface="Calibri"/>
                <a:ea typeface="Calibri"/>
                <a:cs typeface="Calibri"/>
                <a:sym typeface="Calibri"/>
              </a:rPr>
              <a:t>→</a:t>
            </a:r>
            <a:endParaRPr sz="1600">
              <a:solidFill>
                <a:srgbClr val="000000"/>
              </a:solidFill>
              <a:latin typeface="Calibri"/>
              <a:ea typeface="Calibri"/>
              <a:cs typeface="Calibri"/>
              <a:sym typeface="Calibri"/>
            </a:endParaRPr>
          </a:p>
        </p:txBody>
      </p:sp>
      <p:sp>
        <p:nvSpPr>
          <p:cNvPr id="153" name="Google Shape;153;p18"/>
          <p:cNvSpPr/>
          <p:nvPr/>
        </p:nvSpPr>
        <p:spPr>
          <a:xfrm>
            <a:off x="365790" y="309840"/>
            <a:ext cx="8046600" cy="59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D50"/>
              </a:buClr>
              <a:buSzPts val="2700"/>
              <a:buFont typeface="Helvetica Neue"/>
              <a:buNone/>
            </a:pPr>
            <a:r>
              <a:rPr b="1" lang="en-US" sz="2701">
                <a:solidFill>
                  <a:srgbClr val="002D50"/>
                </a:solidFill>
                <a:latin typeface="Helvetica Neue"/>
                <a:ea typeface="Helvetica Neue"/>
                <a:cs typeface="Helvetica Neue"/>
                <a:sym typeface="Helvetica Neue"/>
              </a:rPr>
              <a:t>Intervention Logic</a:t>
            </a:r>
            <a:endParaRPr b="1" sz="2701">
              <a:solidFill>
                <a:srgbClr val="002D50"/>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9"/>
          <p:cNvSpPr/>
          <p:nvPr/>
        </p:nvSpPr>
        <p:spPr>
          <a:xfrm>
            <a:off x="365810" y="510250"/>
            <a:ext cx="30174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i="1" lang="en-US" sz="1300">
                <a:solidFill>
                  <a:schemeClr val="accent1"/>
                </a:solidFill>
                <a:latin typeface="Calibri"/>
                <a:ea typeface="Calibri"/>
                <a:cs typeface="Calibri"/>
                <a:sym typeface="Calibri"/>
              </a:rPr>
              <a:t>Three-Arm RCT · Village-level randomization</a:t>
            </a:r>
            <a:endParaRPr i="1" sz="1300">
              <a:solidFill>
                <a:schemeClr val="accent1"/>
              </a:solidFill>
              <a:latin typeface="Calibri"/>
              <a:ea typeface="Calibri"/>
              <a:cs typeface="Calibri"/>
              <a:sym typeface="Calibri"/>
            </a:endParaRPr>
          </a:p>
        </p:txBody>
      </p:sp>
      <p:sp>
        <p:nvSpPr>
          <p:cNvPr id="160" name="Google Shape;160;p19"/>
          <p:cNvSpPr/>
          <p:nvPr/>
        </p:nvSpPr>
        <p:spPr>
          <a:xfrm>
            <a:off x="365790" y="309840"/>
            <a:ext cx="8046600" cy="59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D50"/>
              </a:buClr>
              <a:buSzPts val="2700"/>
              <a:buFont typeface="Helvetica Neue"/>
              <a:buNone/>
            </a:pPr>
            <a:r>
              <a:rPr b="1" lang="en-US" sz="2701">
                <a:solidFill>
                  <a:srgbClr val="002D50"/>
                </a:solidFill>
                <a:latin typeface="Helvetica Neue"/>
                <a:ea typeface="Helvetica Neue"/>
                <a:cs typeface="Helvetica Neue"/>
                <a:sym typeface="Helvetica Neue"/>
              </a:rPr>
              <a:t>What We're Testing</a:t>
            </a:r>
            <a:endParaRPr b="1" sz="2701">
              <a:solidFill>
                <a:srgbClr val="002D50"/>
              </a:solidFill>
              <a:latin typeface="Helvetica Neue"/>
              <a:ea typeface="Helvetica Neue"/>
              <a:cs typeface="Helvetica Neue"/>
              <a:sym typeface="Helvetica Neue"/>
            </a:endParaRPr>
          </a:p>
        </p:txBody>
      </p:sp>
      <p:sp>
        <p:nvSpPr>
          <p:cNvPr id="161" name="Google Shape;161;p19"/>
          <p:cNvSpPr/>
          <p:nvPr/>
        </p:nvSpPr>
        <p:spPr>
          <a:xfrm>
            <a:off x="114363" y="1238387"/>
            <a:ext cx="2788800" cy="2924400"/>
          </a:xfrm>
          <a:prstGeom prst="rect">
            <a:avLst/>
          </a:prstGeom>
          <a:solidFill>
            <a:srgbClr val="112244"/>
          </a:solidFill>
          <a:ln cap="flat" cmpd="sng" w="22850">
            <a:solidFill>
              <a:srgbClr val="607B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19"/>
          <p:cNvSpPr/>
          <p:nvPr/>
        </p:nvSpPr>
        <p:spPr>
          <a:xfrm>
            <a:off x="114363" y="1238387"/>
            <a:ext cx="2788800" cy="431100"/>
          </a:xfrm>
          <a:prstGeom prst="rect">
            <a:avLst/>
          </a:prstGeom>
          <a:solidFill>
            <a:srgbClr val="607B96"/>
          </a:solidFill>
          <a:ln cap="flat" cmpd="sng" w="12700">
            <a:solidFill>
              <a:srgbClr val="607B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19"/>
          <p:cNvSpPr/>
          <p:nvPr/>
        </p:nvSpPr>
        <p:spPr>
          <a:xfrm>
            <a:off x="160082" y="1238387"/>
            <a:ext cx="2697600" cy="431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350">
                <a:solidFill>
                  <a:srgbClr val="FFFFFF"/>
                </a:solidFill>
                <a:latin typeface="Calibri"/>
                <a:ea typeface="Calibri"/>
                <a:cs typeface="Calibri"/>
                <a:sym typeface="Calibri"/>
              </a:rPr>
              <a:t>CONTROL</a:t>
            </a:r>
            <a:endParaRPr sz="1350">
              <a:solidFill>
                <a:srgbClr val="000000"/>
              </a:solidFill>
              <a:latin typeface="Calibri"/>
              <a:ea typeface="Calibri"/>
              <a:cs typeface="Calibri"/>
              <a:sym typeface="Calibri"/>
            </a:endParaRPr>
          </a:p>
        </p:txBody>
      </p:sp>
      <p:sp>
        <p:nvSpPr>
          <p:cNvPr id="164" name="Google Shape;164;p19"/>
          <p:cNvSpPr/>
          <p:nvPr/>
        </p:nvSpPr>
        <p:spPr>
          <a:xfrm>
            <a:off x="251522" y="1751435"/>
            <a:ext cx="2514600" cy="41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US" sz="1500">
                <a:solidFill>
                  <a:srgbClr val="FFFFFF"/>
                </a:solidFill>
                <a:latin typeface="Calibri"/>
                <a:ea typeface="Calibri"/>
                <a:cs typeface="Calibri"/>
                <a:sym typeface="Calibri"/>
              </a:rPr>
              <a:t>Status Quo</a:t>
            </a:r>
            <a:endParaRPr sz="1500">
              <a:solidFill>
                <a:srgbClr val="000000"/>
              </a:solidFill>
              <a:latin typeface="Calibri"/>
              <a:ea typeface="Calibri"/>
              <a:cs typeface="Calibri"/>
              <a:sym typeface="Calibri"/>
            </a:endParaRPr>
          </a:p>
        </p:txBody>
      </p:sp>
      <p:sp>
        <p:nvSpPr>
          <p:cNvPr id="165" name="Google Shape;165;p19"/>
          <p:cNvSpPr/>
          <p:nvPr/>
        </p:nvSpPr>
        <p:spPr>
          <a:xfrm>
            <a:off x="251522" y="2213178"/>
            <a:ext cx="2514600" cy="179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8D8EC"/>
              </a:buClr>
              <a:buSzPts val="1100"/>
              <a:buFont typeface="Calibri"/>
              <a:buNone/>
            </a:pPr>
            <a:r>
              <a:rPr lang="en-US" sz="1300">
                <a:solidFill>
                  <a:srgbClr val="C8D8EC"/>
                </a:solidFill>
                <a:latin typeface="Calibri"/>
                <a:ea typeface="Calibri"/>
                <a:cs typeface="Calibri"/>
                <a:sym typeface="Calibri"/>
              </a:rPr>
              <a:t>No study-provided services.</a:t>
            </a:r>
            <a:endParaRPr sz="1300">
              <a:solidFill>
                <a:srgbClr val="000000"/>
              </a:solidFill>
              <a:latin typeface="Calibri"/>
              <a:ea typeface="Calibri"/>
              <a:cs typeface="Calibri"/>
              <a:sym typeface="Calibri"/>
            </a:endParaRPr>
          </a:p>
          <a:p>
            <a:pPr indent="0" lvl="0" marL="0" marR="0" rtl="0" algn="l">
              <a:spcBef>
                <a:spcPts val="0"/>
              </a:spcBef>
              <a:spcAft>
                <a:spcPts val="0"/>
              </a:spcAft>
              <a:buClr>
                <a:srgbClr val="C8D8EC"/>
              </a:buClr>
              <a:buSzPts val="1100"/>
              <a:buFont typeface="Calibri"/>
              <a:buNone/>
            </a:pPr>
            <a:r>
              <a:rPr lang="en-US" sz="1300">
                <a:solidFill>
                  <a:srgbClr val="C8D8EC"/>
                </a:solidFill>
                <a:latin typeface="Calibri"/>
                <a:ea typeface="Calibri"/>
                <a:cs typeface="Calibri"/>
                <a:sym typeface="Calibri"/>
              </a:rPr>
              <a:t>Counterfactual: what happens without gender-targeted resources?</a:t>
            </a:r>
            <a:endParaRPr sz="1300">
              <a:solidFill>
                <a:srgbClr val="000000"/>
              </a:solidFill>
              <a:latin typeface="Calibri"/>
              <a:ea typeface="Calibri"/>
              <a:cs typeface="Calibri"/>
              <a:sym typeface="Calibri"/>
            </a:endParaRPr>
          </a:p>
        </p:txBody>
      </p:sp>
      <p:sp>
        <p:nvSpPr>
          <p:cNvPr id="166" name="Google Shape;166;p19"/>
          <p:cNvSpPr/>
          <p:nvPr/>
        </p:nvSpPr>
        <p:spPr>
          <a:xfrm>
            <a:off x="3177600" y="1238387"/>
            <a:ext cx="2788800" cy="2924400"/>
          </a:xfrm>
          <a:prstGeom prst="rect">
            <a:avLst/>
          </a:prstGeom>
          <a:solidFill>
            <a:srgbClr val="112244"/>
          </a:solidFill>
          <a:ln cap="flat" cmpd="sng" w="22850">
            <a:solidFill>
              <a:srgbClr val="4A90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 name="Google Shape;167;p19"/>
          <p:cNvSpPr/>
          <p:nvPr/>
        </p:nvSpPr>
        <p:spPr>
          <a:xfrm>
            <a:off x="3177600" y="1238387"/>
            <a:ext cx="2788800" cy="431100"/>
          </a:xfrm>
          <a:prstGeom prst="rect">
            <a:avLst/>
          </a:prstGeom>
          <a:solidFill>
            <a:srgbClr val="4A90C4"/>
          </a:solidFill>
          <a:ln cap="flat" cmpd="sng" w="12700">
            <a:solidFill>
              <a:srgbClr val="4A90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 name="Google Shape;168;p19"/>
          <p:cNvSpPr/>
          <p:nvPr/>
        </p:nvSpPr>
        <p:spPr>
          <a:xfrm>
            <a:off x="3223320" y="1238387"/>
            <a:ext cx="2697600" cy="431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350">
                <a:solidFill>
                  <a:srgbClr val="FFFFFF"/>
                </a:solidFill>
                <a:latin typeface="Calibri"/>
                <a:ea typeface="Calibri"/>
                <a:cs typeface="Calibri"/>
                <a:sym typeface="Calibri"/>
              </a:rPr>
              <a:t>TREATMENT 1</a:t>
            </a:r>
            <a:endParaRPr sz="1350">
              <a:solidFill>
                <a:srgbClr val="000000"/>
              </a:solidFill>
              <a:latin typeface="Calibri"/>
              <a:ea typeface="Calibri"/>
              <a:cs typeface="Calibri"/>
              <a:sym typeface="Calibri"/>
            </a:endParaRPr>
          </a:p>
        </p:txBody>
      </p:sp>
      <p:sp>
        <p:nvSpPr>
          <p:cNvPr id="169" name="Google Shape;169;p19"/>
          <p:cNvSpPr/>
          <p:nvPr/>
        </p:nvSpPr>
        <p:spPr>
          <a:xfrm>
            <a:off x="3314760" y="1751435"/>
            <a:ext cx="2514600" cy="41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US" sz="1500">
                <a:solidFill>
                  <a:srgbClr val="FFFFFF"/>
                </a:solidFill>
                <a:latin typeface="Calibri"/>
                <a:ea typeface="Calibri"/>
                <a:cs typeface="Calibri"/>
                <a:sym typeface="Calibri"/>
              </a:rPr>
              <a:t>Women-Only Extension</a:t>
            </a:r>
            <a:endParaRPr sz="1500">
              <a:solidFill>
                <a:srgbClr val="000000"/>
              </a:solidFill>
              <a:latin typeface="Calibri"/>
              <a:ea typeface="Calibri"/>
              <a:cs typeface="Calibri"/>
              <a:sym typeface="Calibri"/>
            </a:endParaRPr>
          </a:p>
        </p:txBody>
      </p:sp>
      <p:sp>
        <p:nvSpPr>
          <p:cNvPr id="170" name="Google Shape;170;p19"/>
          <p:cNvSpPr/>
          <p:nvPr/>
        </p:nvSpPr>
        <p:spPr>
          <a:xfrm>
            <a:off x="3314760" y="2213178"/>
            <a:ext cx="2514600" cy="179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8D8EC"/>
              </a:buClr>
              <a:buSzPts val="1100"/>
              <a:buFont typeface="Calibri"/>
              <a:buNone/>
            </a:pPr>
            <a:r>
              <a:rPr lang="en-US" sz="1300">
                <a:solidFill>
                  <a:srgbClr val="C8D8EC"/>
                </a:solidFill>
                <a:latin typeface="Calibri"/>
                <a:ea typeface="Calibri"/>
                <a:cs typeface="Calibri"/>
                <a:sym typeface="Calibri"/>
              </a:rPr>
              <a:t>6 modules over one growing season. Female facilitators. Woman is the named recipient of knowledge.</a:t>
            </a:r>
            <a:endParaRPr sz="1300">
              <a:solidFill>
                <a:srgbClr val="000000"/>
              </a:solidFill>
              <a:latin typeface="Calibri"/>
              <a:ea typeface="Calibri"/>
              <a:cs typeface="Calibri"/>
              <a:sym typeface="Calibri"/>
            </a:endParaRPr>
          </a:p>
        </p:txBody>
      </p:sp>
      <p:sp>
        <p:nvSpPr>
          <p:cNvPr id="171" name="Google Shape;171;p19"/>
          <p:cNvSpPr/>
          <p:nvPr/>
        </p:nvSpPr>
        <p:spPr>
          <a:xfrm>
            <a:off x="6240838" y="1238387"/>
            <a:ext cx="2788800" cy="2924400"/>
          </a:xfrm>
          <a:prstGeom prst="rect">
            <a:avLst/>
          </a:prstGeom>
          <a:solidFill>
            <a:srgbClr val="112244"/>
          </a:solidFill>
          <a:ln cap="flat" cmpd="sng" w="22850">
            <a:solidFill>
              <a:srgbClr val="2E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19"/>
          <p:cNvSpPr/>
          <p:nvPr/>
        </p:nvSpPr>
        <p:spPr>
          <a:xfrm>
            <a:off x="6240838" y="1238387"/>
            <a:ext cx="2788800" cy="431100"/>
          </a:xfrm>
          <a:prstGeom prst="rect">
            <a:avLst/>
          </a:prstGeom>
          <a:solidFill>
            <a:srgbClr val="2E8B8B"/>
          </a:solidFill>
          <a:ln cap="flat" cmpd="sng" w="12700">
            <a:solidFill>
              <a:srgbClr val="2E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19"/>
          <p:cNvSpPr/>
          <p:nvPr/>
        </p:nvSpPr>
        <p:spPr>
          <a:xfrm>
            <a:off x="6286558" y="1238387"/>
            <a:ext cx="2697600" cy="431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350">
                <a:solidFill>
                  <a:srgbClr val="FFFFFF"/>
                </a:solidFill>
                <a:latin typeface="Calibri"/>
                <a:ea typeface="Calibri"/>
                <a:cs typeface="Calibri"/>
                <a:sym typeface="Calibri"/>
              </a:rPr>
              <a:t>TREATMENT 2</a:t>
            </a:r>
            <a:endParaRPr sz="1350">
              <a:solidFill>
                <a:srgbClr val="000000"/>
              </a:solidFill>
              <a:latin typeface="Calibri"/>
              <a:ea typeface="Calibri"/>
              <a:cs typeface="Calibri"/>
              <a:sym typeface="Calibri"/>
            </a:endParaRPr>
          </a:p>
        </p:txBody>
      </p:sp>
      <p:sp>
        <p:nvSpPr>
          <p:cNvPr id="174" name="Google Shape;174;p19"/>
          <p:cNvSpPr/>
          <p:nvPr/>
        </p:nvSpPr>
        <p:spPr>
          <a:xfrm>
            <a:off x="6377998" y="1751435"/>
            <a:ext cx="2514600" cy="41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US" sz="1500">
                <a:solidFill>
                  <a:srgbClr val="FFFFFF"/>
                </a:solidFill>
                <a:latin typeface="Calibri"/>
                <a:ea typeface="Calibri"/>
                <a:cs typeface="Calibri"/>
                <a:sym typeface="Calibri"/>
              </a:rPr>
              <a:t>Extension + Microcredit</a:t>
            </a:r>
            <a:endParaRPr sz="1500">
              <a:solidFill>
                <a:srgbClr val="000000"/>
              </a:solidFill>
              <a:latin typeface="Calibri"/>
              <a:ea typeface="Calibri"/>
              <a:cs typeface="Calibri"/>
              <a:sym typeface="Calibri"/>
            </a:endParaRPr>
          </a:p>
        </p:txBody>
      </p:sp>
      <p:sp>
        <p:nvSpPr>
          <p:cNvPr id="175" name="Google Shape;175;p19"/>
          <p:cNvSpPr/>
          <p:nvPr/>
        </p:nvSpPr>
        <p:spPr>
          <a:xfrm>
            <a:off x="6377998" y="2213178"/>
            <a:ext cx="2514600" cy="179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8D8EC"/>
              </a:buClr>
              <a:buSzPts val="1100"/>
              <a:buFont typeface="Calibri"/>
              <a:buNone/>
            </a:pPr>
            <a:r>
              <a:rPr lang="en-US" sz="1300">
                <a:solidFill>
                  <a:srgbClr val="C8D8EC"/>
                </a:solidFill>
                <a:latin typeface="Calibri"/>
                <a:ea typeface="Calibri"/>
                <a:cs typeface="Calibri"/>
                <a:sym typeface="Calibri"/>
              </a:rPr>
              <a:t>All of T1 plus women are the sole eligible borrowers, disbursed in the woman's name via mobile money.</a:t>
            </a:r>
            <a:endParaRPr sz="1300">
              <a:solidFill>
                <a:srgbClr val="000000"/>
              </a:solidFill>
              <a:latin typeface="Calibri"/>
              <a:ea typeface="Calibri"/>
              <a:cs typeface="Calibri"/>
              <a:sym typeface="Calibri"/>
            </a:endParaRPr>
          </a:p>
        </p:txBody>
      </p:sp>
      <p:sp>
        <p:nvSpPr>
          <p:cNvPr id="176" name="Google Shape;176;p19"/>
          <p:cNvSpPr/>
          <p:nvPr/>
        </p:nvSpPr>
        <p:spPr>
          <a:xfrm>
            <a:off x="114363" y="4285892"/>
            <a:ext cx="8778300" cy="389700"/>
          </a:xfrm>
          <a:prstGeom prst="rect">
            <a:avLst/>
          </a:prstGeom>
          <a:solidFill>
            <a:srgbClr val="1A3259"/>
          </a:solidFill>
          <a:ln cap="flat" cmpd="sng" w="12700">
            <a:solidFill>
              <a:srgbClr val="1A325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19"/>
          <p:cNvSpPr/>
          <p:nvPr/>
        </p:nvSpPr>
        <p:spPr>
          <a:xfrm>
            <a:off x="205802" y="4285892"/>
            <a:ext cx="8595300" cy="38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90C4"/>
              </a:buClr>
              <a:buSzPts val="1050"/>
              <a:buFont typeface="Calibri"/>
              <a:buNone/>
            </a:pPr>
            <a:r>
              <a:rPr b="1" lang="en-US" sz="1200">
                <a:solidFill>
                  <a:srgbClr val="4A90C4"/>
                </a:solidFill>
                <a:latin typeface="Calibri"/>
                <a:ea typeface="Calibri"/>
                <a:cs typeface="Calibri"/>
                <a:sym typeface="Calibri"/>
              </a:rPr>
              <a:t>T1 vs Control</a:t>
            </a:r>
            <a:r>
              <a:rPr lang="en-US" sz="1200">
                <a:solidFill>
                  <a:srgbClr val="C8D8EC"/>
                </a:solidFill>
                <a:latin typeface="Calibri"/>
                <a:ea typeface="Calibri"/>
                <a:cs typeface="Calibri"/>
                <a:sym typeface="Calibri"/>
              </a:rPr>
              <a:t> → effect of knowledge alone     </a:t>
            </a:r>
            <a:r>
              <a:rPr b="1" lang="en-US" sz="1200">
                <a:solidFill>
                  <a:srgbClr val="2E8B8B"/>
                </a:solidFill>
                <a:latin typeface="Calibri"/>
                <a:ea typeface="Calibri"/>
                <a:cs typeface="Calibri"/>
                <a:sym typeface="Calibri"/>
              </a:rPr>
              <a:t>T2 vs Control</a:t>
            </a:r>
            <a:r>
              <a:rPr lang="en-US" sz="1200">
                <a:solidFill>
                  <a:srgbClr val="C8D8EC"/>
                </a:solidFill>
                <a:latin typeface="Calibri"/>
                <a:ea typeface="Calibri"/>
                <a:cs typeface="Calibri"/>
                <a:sym typeface="Calibri"/>
              </a:rPr>
              <a:t> → joint effect of knowledge + capital     </a:t>
            </a:r>
            <a:r>
              <a:rPr b="1" lang="en-US" sz="1200">
                <a:solidFill>
                  <a:srgbClr val="C8A951"/>
                </a:solidFill>
                <a:latin typeface="Calibri"/>
                <a:ea typeface="Calibri"/>
                <a:cs typeface="Calibri"/>
                <a:sym typeface="Calibri"/>
              </a:rPr>
              <a:t>T2 vs T1</a:t>
            </a:r>
            <a:r>
              <a:rPr lang="en-US" sz="1200">
                <a:solidFill>
                  <a:srgbClr val="C8D8EC"/>
                </a:solidFill>
                <a:latin typeface="Calibri"/>
                <a:ea typeface="Calibri"/>
                <a:cs typeface="Calibri"/>
                <a:sym typeface="Calibri"/>
              </a:rPr>
              <a:t> → marginal effect of credit</a:t>
            </a:r>
            <a:endParaRPr sz="1200">
              <a:solidFill>
                <a:srgbClr val="000000"/>
              </a:solidFill>
              <a:latin typeface="Calibri"/>
              <a:ea typeface="Calibri"/>
              <a:cs typeface="Calibri"/>
              <a:sym typeface="Calibri"/>
            </a:endParaRPr>
          </a:p>
        </p:txBody>
      </p:sp>
      <p:sp>
        <p:nvSpPr>
          <p:cNvPr id="178" name="Google Shape;178;p19"/>
          <p:cNvSpPr/>
          <p:nvPr/>
        </p:nvSpPr>
        <p:spPr>
          <a:xfrm>
            <a:off x="114363" y="4778417"/>
            <a:ext cx="8778300" cy="841200"/>
          </a:xfrm>
          <a:prstGeom prst="rect">
            <a:avLst/>
          </a:prstGeom>
          <a:solidFill>
            <a:srgbClr val="071529"/>
          </a:solidFill>
          <a:ln cap="flat" cmpd="sng" w="19050">
            <a:solidFill>
              <a:srgbClr val="C8A95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 name="Google Shape;179;p19"/>
          <p:cNvSpPr/>
          <p:nvPr/>
        </p:nvSpPr>
        <p:spPr>
          <a:xfrm>
            <a:off x="251522" y="4798939"/>
            <a:ext cx="2011800" cy="35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1100"/>
              <a:buFont typeface="Calibri"/>
              <a:buNone/>
            </a:pPr>
            <a:r>
              <a:rPr b="1" lang="en-US" sz="1300">
                <a:solidFill>
                  <a:srgbClr val="C8A951"/>
                </a:solidFill>
                <a:latin typeface="Calibri"/>
                <a:ea typeface="Calibri"/>
                <a:cs typeface="Calibri"/>
                <a:sym typeface="Calibri"/>
              </a:rPr>
              <a:t>Primary Outcomes</a:t>
            </a:r>
            <a:endParaRPr sz="1300">
              <a:solidFill>
                <a:srgbClr val="000000"/>
              </a:solidFill>
              <a:latin typeface="Calibri"/>
              <a:ea typeface="Calibri"/>
              <a:cs typeface="Calibri"/>
              <a:sym typeface="Calibri"/>
            </a:endParaRPr>
          </a:p>
        </p:txBody>
      </p:sp>
      <p:sp>
        <p:nvSpPr>
          <p:cNvPr id="180" name="Google Shape;180;p19"/>
          <p:cNvSpPr/>
          <p:nvPr/>
        </p:nvSpPr>
        <p:spPr>
          <a:xfrm>
            <a:off x="251522" y="5158073"/>
            <a:ext cx="8321100" cy="30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8EC"/>
              </a:buClr>
              <a:buSzPts val="1100"/>
              <a:buFont typeface="Calibri"/>
              <a:buNone/>
            </a:pPr>
            <a:r>
              <a:rPr lang="en-US" sz="1200">
                <a:solidFill>
                  <a:srgbClr val="C8D8EC"/>
                </a:solidFill>
                <a:latin typeface="Calibri"/>
                <a:ea typeface="Calibri"/>
                <a:cs typeface="Calibri"/>
                <a:sym typeface="Calibri"/>
              </a:rPr>
              <a:t>↑ Women's decision-making authority  ↑ Control over farm revenue  ↑ Perceived productive role</a:t>
            </a:r>
            <a:endParaRPr sz="1200">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0"/>
          <p:cNvSpPr txBox="1"/>
          <p:nvPr>
            <p:ph type="title"/>
          </p:nvPr>
        </p:nvSpPr>
        <p:spPr>
          <a:xfrm>
            <a:off x="213473" y="236674"/>
            <a:ext cx="8686500" cy="585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D50"/>
              </a:buClr>
              <a:buSzPts val="2700"/>
              <a:buFont typeface="Helvetica Neue"/>
              <a:buNone/>
            </a:pPr>
            <a:r>
              <a:rPr lang="en-US"/>
              <a:t>Study Design: Sample</a:t>
            </a:r>
            <a:endParaRPr/>
          </a:p>
        </p:txBody>
      </p:sp>
      <p:sp>
        <p:nvSpPr>
          <p:cNvPr id="187" name="Google Shape;187;p20"/>
          <p:cNvSpPr txBox="1"/>
          <p:nvPr>
            <p:ph idx="1" type="body"/>
          </p:nvPr>
        </p:nvSpPr>
        <p:spPr>
          <a:xfrm>
            <a:off x="265877" y="792676"/>
            <a:ext cx="8499900" cy="4749900"/>
          </a:xfrm>
          <a:prstGeom prst="rect">
            <a:avLst/>
          </a:prstGeom>
          <a:noFill/>
          <a:ln>
            <a:noFill/>
          </a:ln>
        </p:spPr>
        <p:txBody>
          <a:bodyPr anchorCtr="0" anchor="t" bIns="45700" lIns="91425" spcFirstLastPara="1" rIns="91425" wrap="square" tIns="45700">
            <a:noAutofit/>
          </a:bodyPr>
          <a:lstStyle/>
          <a:p>
            <a:pPr indent="-279469" lvl="0" marL="257244" rtl="0" algn="l">
              <a:spcBef>
                <a:spcPts val="375"/>
              </a:spcBef>
              <a:spcAft>
                <a:spcPts val="0"/>
              </a:spcAft>
              <a:buClr>
                <a:schemeClr val="dk1"/>
              </a:buClr>
              <a:buSzPts val="1700"/>
              <a:buChar char="•"/>
            </a:pPr>
            <a:r>
              <a:rPr b="1" lang="en-US" sz="1700"/>
              <a:t>Randomization at the village level:</a:t>
            </a:r>
            <a:endParaRPr b="1" sz="1700"/>
          </a:p>
          <a:p>
            <a:pPr indent="-208020" lvl="1" marL="557361" rtl="0" algn="l">
              <a:spcBef>
                <a:spcPts val="375"/>
              </a:spcBef>
              <a:spcAft>
                <a:spcPts val="0"/>
              </a:spcAft>
              <a:buSzPts val="1700"/>
              <a:buChar char="–"/>
            </a:pPr>
            <a:r>
              <a:rPr lang="en-US" sz="1700"/>
              <a:t>Mechanism operates through community-level visibility</a:t>
            </a:r>
            <a:endParaRPr sz="1700"/>
          </a:p>
          <a:p>
            <a:pPr indent="-208020" lvl="1" marL="557361" rtl="0" algn="l">
              <a:spcBef>
                <a:spcPts val="375"/>
              </a:spcBef>
              <a:spcAft>
                <a:spcPts val="0"/>
              </a:spcAft>
              <a:buSzPts val="1700"/>
              <a:buChar char="–"/>
            </a:pPr>
            <a:r>
              <a:rPr lang="en-US" sz="1700"/>
              <a:t>Minimizes risk of contamination between groups  as extension knowledge diffuses across households</a:t>
            </a:r>
            <a:endParaRPr sz="1700"/>
          </a:p>
          <a:p>
            <a:pPr indent="-279469" lvl="0" marL="257244" rtl="0" algn="l">
              <a:spcBef>
                <a:spcPts val="375"/>
              </a:spcBef>
              <a:spcAft>
                <a:spcPts val="0"/>
              </a:spcAft>
              <a:buClr>
                <a:schemeClr val="dk1"/>
              </a:buClr>
              <a:buSzPts val="1700"/>
              <a:buChar char="•"/>
            </a:pPr>
            <a:r>
              <a:rPr b="1" lang="en-US" sz="1700"/>
              <a:t>Stratified Sampling by Region: </a:t>
            </a:r>
            <a:endParaRPr b="1" sz="1700"/>
          </a:p>
          <a:p>
            <a:pPr indent="-208020" lvl="1" marL="557361" rtl="0" algn="l">
              <a:spcBef>
                <a:spcPts val="375"/>
              </a:spcBef>
              <a:spcAft>
                <a:spcPts val="0"/>
              </a:spcAft>
              <a:buSzPts val="1700"/>
              <a:buChar char="–"/>
            </a:pPr>
            <a:r>
              <a:rPr lang="en-US" sz="1700"/>
              <a:t>Rural farming villages selected from northern and southern states</a:t>
            </a:r>
            <a:endParaRPr sz="1700"/>
          </a:p>
          <a:p>
            <a:pPr indent="-165146" lvl="2" marL="857479" rtl="0" algn="l">
              <a:spcBef>
                <a:spcPts val="375"/>
              </a:spcBef>
              <a:spcAft>
                <a:spcPts val="0"/>
              </a:spcAft>
              <a:buSzPts val="1700"/>
              <a:buChar char="•"/>
            </a:pPr>
            <a:r>
              <a:rPr lang="en-US" sz="1700"/>
              <a:t>To capture gender norm intensity: northen Nigeria is predominantly Muslim and Hausa-Fulani households where Purdah is followed. We use this as proxy for norm-intensity where social restrictions on women are strongest.</a:t>
            </a:r>
            <a:endParaRPr sz="1700"/>
          </a:p>
          <a:p>
            <a:pPr indent="-208020" lvl="1" marL="557361" rtl="0" algn="l">
              <a:spcBef>
                <a:spcPts val="375"/>
              </a:spcBef>
              <a:spcAft>
                <a:spcPts val="0"/>
              </a:spcAft>
              <a:buSzPts val="1700"/>
              <a:buChar char="–"/>
            </a:pPr>
            <a:r>
              <a:rPr lang="en-US" sz="1700"/>
              <a:t>Eligible households: at least one adult woman (aged 15 or more) engaged in agricultural production</a:t>
            </a:r>
            <a:endParaRPr sz="1700"/>
          </a:p>
          <a:p>
            <a:pPr indent="-165146" lvl="2" marL="857479" rtl="0" algn="l">
              <a:spcBef>
                <a:spcPts val="375"/>
              </a:spcBef>
              <a:spcAft>
                <a:spcPts val="0"/>
              </a:spcAft>
              <a:buSzPts val="1700"/>
              <a:buChar char="•"/>
            </a:pPr>
            <a:r>
              <a:rPr lang="en-US" sz="1700"/>
              <a:t>Village-level baseline FLFP in agriculture used to identify villages</a:t>
            </a:r>
            <a:endParaRPr sz="1700"/>
          </a:p>
          <a:p>
            <a:pPr indent="-279469" lvl="0" marL="257244" rtl="0" algn="l">
              <a:spcBef>
                <a:spcPts val="375"/>
              </a:spcBef>
              <a:spcAft>
                <a:spcPts val="0"/>
              </a:spcAft>
              <a:buClr>
                <a:schemeClr val="dk1"/>
              </a:buClr>
              <a:buSzPts val="1700"/>
              <a:buChar char="•"/>
            </a:pPr>
            <a:r>
              <a:rPr b="1" lang="en-US" sz="1700"/>
              <a:t>Sample size: </a:t>
            </a:r>
            <a:endParaRPr b="1" sz="1700"/>
          </a:p>
          <a:p>
            <a:pPr indent="0" lvl="0" marL="557361" rtl="0" algn="l">
              <a:spcBef>
                <a:spcPts val="375"/>
              </a:spcBef>
              <a:spcAft>
                <a:spcPts val="0"/>
              </a:spcAft>
              <a:buNone/>
            </a:pPr>
            <a:r>
              <a:t/>
            </a:r>
            <a:endParaRPr sz="1350">
              <a:solidFill>
                <a:schemeClr val="accent6"/>
              </a:solidFill>
            </a:endParaRPr>
          </a:p>
        </p:txBody>
      </p:sp>
      <p:sp>
        <p:nvSpPr>
          <p:cNvPr id="188" name="Google Shape;188;p20"/>
          <p:cNvSpPr txBox="1"/>
          <p:nvPr/>
        </p:nvSpPr>
        <p:spPr>
          <a:xfrm>
            <a:off x="598100" y="4733958"/>
            <a:ext cx="2283600" cy="716700"/>
          </a:xfrm>
          <a:prstGeom prst="rect">
            <a:avLst/>
          </a:prstGeom>
          <a:solidFill>
            <a:schemeClr val="dk2"/>
          </a:solidFill>
          <a:ln>
            <a:noFill/>
          </a:ln>
        </p:spPr>
        <p:txBody>
          <a:bodyPr anchorCtr="0" anchor="ctr" bIns="171475" lIns="205775" spcFirstLastPara="1" rIns="205775" wrap="square" tIns="171475">
            <a:noAutofit/>
          </a:bodyPr>
          <a:lstStyle/>
          <a:p>
            <a:pPr indent="0" lvl="0" marL="0" marR="0" rtl="0" algn="l">
              <a:spcBef>
                <a:spcPts val="0"/>
              </a:spcBef>
              <a:spcAft>
                <a:spcPts val="0"/>
              </a:spcAft>
              <a:buNone/>
            </a:pPr>
            <a:r>
              <a:rPr b="1" lang="en-US" sz="1350">
                <a:solidFill>
                  <a:srgbClr val="FFFFFF"/>
                </a:solidFill>
                <a:latin typeface="Helvetica Neue"/>
                <a:ea typeface="Helvetica Neue"/>
                <a:cs typeface="Helvetica Neue"/>
                <a:sym typeface="Helvetica Neue"/>
              </a:rPr>
              <a:t>135 Total Villages</a:t>
            </a:r>
            <a:endParaRPr b="1" sz="1350">
              <a:solidFill>
                <a:srgbClr val="FFFFFF"/>
              </a:solidFill>
              <a:latin typeface="Helvetica Neue"/>
              <a:ea typeface="Helvetica Neue"/>
              <a:cs typeface="Helvetica Neue"/>
              <a:sym typeface="Helvetica Neue"/>
            </a:endParaRPr>
          </a:p>
        </p:txBody>
      </p:sp>
      <p:sp>
        <p:nvSpPr>
          <p:cNvPr id="189" name="Google Shape;189;p20"/>
          <p:cNvSpPr txBox="1"/>
          <p:nvPr/>
        </p:nvSpPr>
        <p:spPr>
          <a:xfrm>
            <a:off x="3374025" y="4733970"/>
            <a:ext cx="2283600" cy="716700"/>
          </a:xfrm>
          <a:prstGeom prst="rect">
            <a:avLst/>
          </a:prstGeom>
          <a:noFill/>
          <a:ln cap="flat" cmpd="sng" w="9525">
            <a:solidFill>
              <a:schemeClr val="dk2"/>
            </a:solidFill>
            <a:prstDash val="solid"/>
            <a:round/>
            <a:headEnd len="sm" w="sm" type="none"/>
            <a:tailEnd len="sm" w="sm" type="none"/>
          </a:ln>
        </p:spPr>
        <p:txBody>
          <a:bodyPr anchorCtr="0" anchor="ctr" bIns="171475" lIns="205775" spcFirstLastPara="1" rIns="205775" wrap="square" tIns="171475">
            <a:noAutofit/>
          </a:bodyPr>
          <a:lstStyle/>
          <a:p>
            <a:pPr indent="0" lvl="0" marL="0" marR="0" rtl="0" algn="l">
              <a:spcBef>
                <a:spcPts val="0"/>
              </a:spcBef>
              <a:spcAft>
                <a:spcPts val="0"/>
              </a:spcAft>
              <a:buNone/>
            </a:pPr>
            <a:r>
              <a:rPr b="1" lang="en-US" sz="1350">
                <a:solidFill>
                  <a:schemeClr val="dk2"/>
                </a:solidFill>
                <a:latin typeface="Helvetica Neue"/>
                <a:ea typeface="Helvetica Neue"/>
                <a:cs typeface="Helvetica Neue"/>
                <a:sym typeface="Helvetica Neue"/>
              </a:rPr>
              <a:t>45 villages per treatment arm</a:t>
            </a:r>
            <a:endParaRPr b="1" sz="1350">
              <a:solidFill>
                <a:schemeClr val="dk2"/>
              </a:solidFill>
              <a:latin typeface="Helvetica Neue"/>
              <a:ea typeface="Helvetica Neue"/>
              <a:cs typeface="Helvetica Neue"/>
              <a:sym typeface="Helvetica Neue"/>
            </a:endParaRPr>
          </a:p>
        </p:txBody>
      </p:sp>
      <p:sp>
        <p:nvSpPr>
          <p:cNvPr id="190" name="Google Shape;190;p20"/>
          <p:cNvSpPr txBox="1"/>
          <p:nvPr/>
        </p:nvSpPr>
        <p:spPr>
          <a:xfrm>
            <a:off x="6149950" y="4733958"/>
            <a:ext cx="2283600" cy="716700"/>
          </a:xfrm>
          <a:prstGeom prst="rect">
            <a:avLst/>
          </a:prstGeom>
          <a:solidFill>
            <a:schemeClr val="dk2"/>
          </a:solidFill>
          <a:ln>
            <a:noFill/>
          </a:ln>
        </p:spPr>
        <p:txBody>
          <a:bodyPr anchorCtr="0" anchor="ctr" bIns="171475" lIns="205775" spcFirstLastPara="1" rIns="205775" wrap="square" tIns="171475">
            <a:noAutofit/>
          </a:bodyPr>
          <a:lstStyle/>
          <a:p>
            <a:pPr indent="0" lvl="0" marL="0" marR="0" rtl="0" algn="l">
              <a:spcBef>
                <a:spcPts val="0"/>
              </a:spcBef>
              <a:spcAft>
                <a:spcPts val="0"/>
              </a:spcAft>
              <a:buNone/>
            </a:pPr>
            <a:r>
              <a:rPr b="1" lang="en-US" sz="1350">
                <a:solidFill>
                  <a:srgbClr val="FFFFFF"/>
                </a:solidFill>
                <a:latin typeface="Helvetica Neue"/>
                <a:ea typeface="Helvetica Neue"/>
                <a:cs typeface="Helvetica Neue"/>
                <a:sym typeface="Helvetica Neue"/>
              </a:rPr>
              <a:t>~20 eligible women per villages (GHS median cluster size)</a:t>
            </a:r>
            <a:endParaRPr b="1" sz="1350">
              <a:solidFill>
                <a:srgbClr val="FFFFFF"/>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1"/>
          <p:cNvSpPr txBox="1"/>
          <p:nvPr>
            <p:ph type="title"/>
          </p:nvPr>
        </p:nvSpPr>
        <p:spPr>
          <a:xfrm>
            <a:off x="213473" y="236674"/>
            <a:ext cx="8686500" cy="585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D50"/>
              </a:buClr>
              <a:buSzPts val="2700"/>
              <a:buFont typeface="Helvetica Neue"/>
              <a:buNone/>
            </a:pPr>
            <a:r>
              <a:rPr lang="en-US"/>
              <a:t>Study Design: Extension Details and Timeline</a:t>
            </a:r>
            <a:endParaRPr/>
          </a:p>
        </p:txBody>
      </p:sp>
      <p:sp>
        <p:nvSpPr>
          <p:cNvPr id="197" name="Google Shape;197;p21"/>
          <p:cNvSpPr txBox="1"/>
          <p:nvPr>
            <p:ph idx="1" type="body"/>
          </p:nvPr>
        </p:nvSpPr>
        <p:spPr>
          <a:xfrm>
            <a:off x="3044025" y="895749"/>
            <a:ext cx="5709000" cy="2279100"/>
          </a:xfrm>
          <a:prstGeom prst="rect">
            <a:avLst/>
          </a:prstGeom>
          <a:noFill/>
          <a:ln>
            <a:noFill/>
          </a:ln>
        </p:spPr>
        <p:txBody>
          <a:bodyPr anchorCtr="0" anchor="t" bIns="45700" lIns="91425" spcFirstLastPara="1" rIns="91425" wrap="square" tIns="45700">
            <a:noAutofit/>
          </a:bodyPr>
          <a:lstStyle/>
          <a:p>
            <a:pPr indent="-323850" lvl="0" marL="457200" rtl="0" algn="l">
              <a:spcBef>
                <a:spcPts val="0"/>
              </a:spcBef>
              <a:spcAft>
                <a:spcPts val="0"/>
              </a:spcAft>
              <a:buClr>
                <a:schemeClr val="accent6"/>
              </a:buClr>
              <a:buSzPts val="1500"/>
              <a:buChar char="•"/>
            </a:pPr>
            <a:r>
              <a:rPr lang="en-US" sz="1500">
                <a:solidFill>
                  <a:schemeClr val="accent6"/>
                </a:solidFill>
              </a:rPr>
              <a:t>Two sessions per curriculum module</a:t>
            </a:r>
            <a:endParaRPr sz="1500">
              <a:solidFill>
                <a:schemeClr val="accent6"/>
              </a:solidFill>
            </a:endParaRPr>
          </a:p>
          <a:p>
            <a:pPr indent="-323850" lvl="0" marL="457200" rtl="0" algn="l">
              <a:spcBef>
                <a:spcPts val="0"/>
              </a:spcBef>
              <a:spcAft>
                <a:spcPts val="0"/>
              </a:spcAft>
              <a:buClr>
                <a:schemeClr val="accent6"/>
              </a:buClr>
              <a:buSzPts val="1500"/>
              <a:buChar char="•"/>
            </a:pPr>
            <a:r>
              <a:rPr lang="en-US" sz="1500">
                <a:solidFill>
                  <a:schemeClr val="accent6"/>
                </a:solidFill>
              </a:rPr>
              <a:t>2 hours per session </a:t>
            </a:r>
            <a:endParaRPr sz="1500">
              <a:solidFill>
                <a:schemeClr val="accent6"/>
              </a:solidFill>
            </a:endParaRPr>
          </a:p>
          <a:p>
            <a:pPr indent="-323850" lvl="0" marL="457200" rtl="0" algn="l">
              <a:spcBef>
                <a:spcPts val="0"/>
              </a:spcBef>
              <a:spcAft>
                <a:spcPts val="0"/>
              </a:spcAft>
              <a:buClr>
                <a:schemeClr val="accent6"/>
              </a:buClr>
              <a:buSzPts val="1500"/>
              <a:buChar char="•"/>
            </a:pPr>
            <a:r>
              <a:rPr lang="en-US" sz="1500">
                <a:solidFill>
                  <a:schemeClr val="accent6"/>
                </a:solidFill>
              </a:rPr>
              <a:t>Bi-weekly: 20 weeks (one full growing season) </a:t>
            </a:r>
            <a:endParaRPr sz="1500">
              <a:solidFill>
                <a:schemeClr val="accent6"/>
              </a:solidFill>
            </a:endParaRPr>
          </a:p>
          <a:p>
            <a:pPr indent="-323850" lvl="0" marL="457200" rtl="0" algn="l">
              <a:spcBef>
                <a:spcPts val="0"/>
              </a:spcBef>
              <a:spcAft>
                <a:spcPts val="0"/>
              </a:spcAft>
              <a:buClr>
                <a:schemeClr val="accent6"/>
              </a:buClr>
              <a:buSzPts val="1500"/>
              <a:buChar char="•"/>
            </a:pPr>
            <a:r>
              <a:rPr lang="en-US" sz="1500">
                <a:solidFill>
                  <a:schemeClr val="accent6"/>
                </a:solidFill>
              </a:rPr>
              <a:t>Modules covered: </a:t>
            </a:r>
            <a:endParaRPr sz="1500">
              <a:solidFill>
                <a:schemeClr val="accent6"/>
              </a:solidFill>
            </a:endParaRPr>
          </a:p>
          <a:p>
            <a:pPr indent="-323850" lvl="1" marL="914400" rtl="0" algn="l">
              <a:spcBef>
                <a:spcPts val="0"/>
              </a:spcBef>
              <a:spcAft>
                <a:spcPts val="0"/>
              </a:spcAft>
              <a:buClr>
                <a:schemeClr val="accent6"/>
              </a:buClr>
              <a:buSzPts val="1500"/>
              <a:buChar char="–"/>
            </a:pPr>
            <a:r>
              <a:rPr lang="en-US" sz="1500">
                <a:solidFill>
                  <a:schemeClr val="accent6"/>
                </a:solidFill>
              </a:rPr>
              <a:t>Crop Planning and Seasonal Decision-Making </a:t>
            </a:r>
            <a:endParaRPr sz="1500">
              <a:solidFill>
                <a:schemeClr val="accent6"/>
              </a:solidFill>
            </a:endParaRPr>
          </a:p>
          <a:p>
            <a:pPr indent="-323850" lvl="1" marL="914400" rtl="0" algn="l">
              <a:spcBef>
                <a:spcPts val="0"/>
              </a:spcBef>
              <a:spcAft>
                <a:spcPts val="0"/>
              </a:spcAft>
              <a:buClr>
                <a:schemeClr val="accent6"/>
              </a:buClr>
              <a:buSzPts val="1500"/>
              <a:buChar char="–"/>
            </a:pPr>
            <a:r>
              <a:rPr lang="en-US" sz="1500">
                <a:solidFill>
                  <a:schemeClr val="accent6"/>
                </a:solidFill>
              </a:rPr>
              <a:t>Input Use</a:t>
            </a:r>
            <a:endParaRPr sz="1500">
              <a:solidFill>
                <a:schemeClr val="accent6"/>
              </a:solidFill>
            </a:endParaRPr>
          </a:p>
          <a:p>
            <a:pPr indent="-323850" lvl="1" marL="914400" rtl="0" algn="l">
              <a:spcBef>
                <a:spcPts val="0"/>
              </a:spcBef>
              <a:spcAft>
                <a:spcPts val="0"/>
              </a:spcAft>
              <a:buClr>
                <a:schemeClr val="accent6"/>
              </a:buClr>
              <a:buSzPts val="1500"/>
              <a:buChar char="–"/>
            </a:pPr>
            <a:r>
              <a:rPr lang="en-US" sz="1500">
                <a:solidFill>
                  <a:schemeClr val="accent6"/>
                </a:solidFill>
              </a:rPr>
              <a:t>Basic Record-keeping </a:t>
            </a:r>
            <a:endParaRPr sz="1500">
              <a:solidFill>
                <a:schemeClr val="accent6"/>
              </a:solidFill>
            </a:endParaRPr>
          </a:p>
          <a:p>
            <a:pPr indent="-323850" lvl="1" marL="914400" rtl="0" algn="l">
              <a:spcBef>
                <a:spcPts val="0"/>
              </a:spcBef>
              <a:spcAft>
                <a:spcPts val="0"/>
              </a:spcAft>
              <a:buClr>
                <a:schemeClr val="accent6"/>
              </a:buClr>
              <a:buSzPts val="1500"/>
              <a:buChar char="–"/>
            </a:pPr>
            <a:r>
              <a:rPr lang="en-US" sz="1500">
                <a:solidFill>
                  <a:schemeClr val="accent6"/>
                </a:solidFill>
              </a:rPr>
              <a:t>Post-harvest handling and Storage</a:t>
            </a:r>
            <a:endParaRPr sz="1500">
              <a:solidFill>
                <a:schemeClr val="accent6"/>
              </a:solidFill>
            </a:endParaRPr>
          </a:p>
          <a:p>
            <a:pPr indent="-323850" lvl="1" marL="914400" rtl="0" algn="l">
              <a:spcBef>
                <a:spcPts val="0"/>
              </a:spcBef>
              <a:spcAft>
                <a:spcPts val="0"/>
              </a:spcAft>
              <a:buClr>
                <a:schemeClr val="accent6"/>
              </a:buClr>
              <a:buSzPts val="1500"/>
              <a:buChar char="–"/>
            </a:pPr>
            <a:r>
              <a:rPr lang="en-US" sz="1500">
                <a:solidFill>
                  <a:schemeClr val="accent6"/>
                </a:solidFill>
              </a:rPr>
              <a:t>Market-oriented decision-making </a:t>
            </a:r>
            <a:endParaRPr sz="1500">
              <a:solidFill>
                <a:schemeClr val="accent6"/>
              </a:solidFill>
            </a:endParaRPr>
          </a:p>
          <a:p>
            <a:pPr indent="-323850" lvl="1" marL="914400" rtl="0" algn="l">
              <a:spcBef>
                <a:spcPts val="0"/>
              </a:spcBef>
              <a:spcAft>
                <a:spcPts val="0"/>
              </a:spcAft>
              <a:buClr>
                <a:schemeClr val="accent6"/>
              </a:buClr>
              <a:buSzPts val="1500"/>
              <a:buChar char="–"/>
            </a:pPr>
            <a:r>
              <a:rPr lang="en-US" sz="1500">
                <a:solidFill>
                  <a:schemeClr val="accent6"/>
                </a:solidFill>
              </a:rPr>
              <a:t>Negotiation skills </a:t>
            </a:r>
            <a:endParaRPr sz="1500">
              <a:solidFill>
                <a:schemeClr val="accent6"/>
              </a:solidFill>
            </a:endParaRPr>
          </a:p>
        </p:txBody>
      </p:sp>
      <p:sp>
        <p:nvSpPr>
          <p:cNvPr id="198" name="Google Shape;198;p21"/>
          <p:cNvSpPr txBox="1"/>
          <p:nvPr/>
        </p:nvSpPr>
        <p:spPr>
          <a:xfrm>
            <a:off x="344100" y="1001595"/>
            <a:ext cx="2283600" cy="716700"/>
          </a:xfrm>
          <a:prstGeom prst="rect">
            <a:avLst/>
          </a:prstGeom>
          <a:noFill/>
          <a:ln cap="flat" cmpd="sng" w="9525">
            <a:solidFill>
              <a:schemeClr val="dk2"/>
            </a:solidFill>
            <a:prstDash val="solid"/>
            <a:round/>
            <a:headEnd len="sm" w="sm" type="none"/>
            <a:tailEnd len="sm" w="sm" type="none"/>
          </a:ln>
        </p:spPr>
        <p:txBody>
          <a:bodyPr anchorCtr="0" anchor="ctr" bIns="171475" lIns="205775" spcFirstLastPara="1" rIns="205775" wrap="square" tIns="171475">
            <a:noAutofit/>
          </a:bodyPr>
          <a:lstStyle/>
          <a:p>
            <a:pPr indent="0" lvl="0" marL="0" marR="0" rtl="0" algn="l">
              <a:spcBef>
                <a:spcPts val="0"/>
              </a:spcBef>
              <a:spcAft>
                <a:spcPts val="0"/>
              </a:spcAft>
              <a:buNone/>
            </a:pPr>
            <a:r>
              <a:rPr b="1" lang="en-US" sz="1350">
                <a:solidFill>
                  <a:schemeClr val="dk2"/>
                </a:solidFill>
                <a:latin typeface="Helvetica Neue"/>
                <a:ea typeface="Helvetica Neue"/>
                <a:cs typeface="Helvetica Neue"/>
                <a:sym typeface="Helvetica Neue"/>
              </a:rPr>
              <a:t>10 sessions over a growing season</a:t>
            </a:r>
            <a:endParaRPr b="1" sz="1350">
              <a:solidFill>
                <a:schemeClr val="dk2"/>
              </a:solidFill>
              <a:latin typeface="Helvetica Neue"/>
              <a:ea typeface="Helvetica Neue"/>
              <a:cs typeface="Helvetica Neue"/>
              <a:sym typeface="Helvetica Neue"/>
            </a:endParaRPr>
          </a:p>
        </p:txBody>
      </p:sp>
      <p:pic>
        <p:nvPicPr>
          <p:cNvPr id="199" name="Google Shape;199;p21"/>
          <p:cNvPicPr preferRelativeResize="0"/>
          <p:nvPr/>
        </p:nvPicPr>
        <p:blipFill rotWithShape="1">
          <a:blip r:embed="rId3">
            <a:alphaModFix/>
          </a:blip>
          <a:srcRect b="9950" l="0" r="0" t="0"/>
          <a:stretch/>
        </p:blipFill>
        <p:spPr>
          <a:xfrm>
            <a:off x="1039283" y="2995317"/>
            <a:ext cx="7095749" cy="30512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2"/>
          <p:cNvSpPr txBox="1"/>
          <p:nvPr/>
        </p:nvSpPr>
        <p:spPr>
          <a:xfrm>
            <a:off x="4683208" y="21526184"/>
            <a:ext cx="4376046" cy="646331"/>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i="0" lang="en-US" sz="1500" u="none" cap="none" strike="noStrike">
                <a:solidFill>
                  <a:schemeClr val="dk1"/>
                </a:solidFill>
                <a:latin typeface="Helvetica Neue"/>
                <a:ea typeface="Helvetica Neue"/>
                <a:cs typeface="Helvetica Neue"/>
                <a:sym typeface="Helvetica Neue"/>
              </a:rPr>
              <a:t>Bulleted Text Style Title—</a:t>
            </a:r>
            <a:br>
              <a:rPr b="1" i="0" lang="en-US" sz="1500" u="none" cap="none" strike="noStrike">
                <a:solidFill>
                  <a:schemeClr val="dk1"/>
                </a:solidFill>
                <a:latin typeface="Helvetica Neue"/>
                <a:ea typeface="Helvetica Neue"/>
                <a:cs typeface="Helvetica Neue"/>
                <a:sym typeface="Helvetica Neue"/>
              </a:rPr>
            </a:br>
            <a:r>
              <a:rPr b="1" i="0" lang="en-US" sz="1500" u="none" cap="none" strike="noStrike">
                <a:solidFill>
                  <a:schemeClr val="dk1"/>
                </a:solidFill>
                <a:latin typeface="Helvetica Neue"/>
                <a:ea typeface="Helvetica Neue"/>
                <a:cs typeface="Helvetica Neue"/>
                <a:sym typeface="Helvetica Neue"/>
              </a:rPr>
              <a:t>Helvetica Neue 20pt Bold</a:t>
            </a:r>
            <a:endParaRPr/>
          </a:p>
        </p:txBody>
      </p:sp>
      <p:sp>
        <p:nvSpPr>
          <p:cNvPr id="206" name="Google Shape;206;p22"/>
          <p:cNvSpPr/>
          <p:nvPr/>
        </p:nvSpPr>
        <p:spPr>
          <a:xfrm>
            <a:off x="389726" y="1118305"/>
            <a:ext cx="3840600" cy="146310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07" name="Google Shape;207;p22"/>
          <p:cNvSpPr/>
          <p:nvPr/>
        </p:nvSpPr>
        <p:spPr>
          <a:xfrm>
            <a:off x="389726" y="1118305"/>
            <a:ext cx="63900" cy="1463100"/>
          </a:xfrm>
          <a:prstGeom prst="rect">
            <a:avLst/>
          </a:prstGeom>
          <a:solidFill>
            <a:srgbClr val="4A90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08" name="Google Shape;208;p22"/>
          <p:cNvSpPr/>
          <p:nvPr/>
        </p:nvSpPr>
        <p:spPr>
          <a:xfrm>
            <a:off x="664046" y="1209745"/>
            <a:ext cx="3383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400"/>
              <a:buFont typeface="Arial"/>
              <a:buNone/>
            </a:pPr>
            <a:r>
              <a:rPr b="1" i="0" lang="en-US" sz="1600" u="none" cap="none" strike="noStrike">
                <a:solidFill>
                  <a:srgbClr val="041E42"/>
                </a:solidFill>
                <a:latin typeface="Arial"/>
                <a:ea typeface="Arial"/>
                <a:cs typeface="Arial"/>
                <a:sym typeface="Arial"/>
              </a:rPr>
              <a:t>GHS 2018-19</a:t>
            </a:r>
            <a:endParaRPr b="0" i="0" sz="1600" u="none" cap="none" strike="noStrike">
              <a:solidFill>
                <a:srgbClr val="000000"/>
              </a:solidFill>
              <a:latin typeface="Calibri"/>
              <a:ea typeface="Calibri"/>
              <a:cs typeface="Calibri"/>
              <a:sym typeface="Calibri"/>
            </a:endParaRPr>
          </a:p>
        </p:txBody>
      </p:sp>
      <p:sp>
        <p:nvSpPr>
          <p:cNvPr id="209" name="Google Shape;209;p22"/>
          <p:cNvSpPr/>
          <p:nvPr/>
        </p:nvSpPr>
        <p:spPr>
          <a:xfrm>
            <a:off x="664046" y="1529785"/>
            <a:ext cx="3383400" cy="914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A1A1A"/>
              </a:buClr>
              <a:buSzPts val="1100"/>
              <a:buFont typeface="Arial"/>
              <a:buNone/>
            </a:pPr>
            <a:r>
              <a:rPr b="0" i="0" lang="en-US" sz="1300" u="none" cap="none" strike="noStrike">
                <a:solidFill>
                  <a:srgbClr val="1A1A1A"/>
                </a:solidFill>
                <a:latin typeface="Arial"/>
                <a:ea typeface="Arial"/>
                <a:cs typeface="Arial"/>
                <a:sym typeface="Arial"/>
              </a:rPr>
              <a:t>Existing national survey</a:t>
            </a:r>
            <a:endParaRPr b="0" i="0" sz="1300" u="none" cap="none" strike="noStrike">
              <a:solidFill>
                <a:srgbClr val="000000"/>
              </a:solidFill>
              <a:latin typeface="Calibri"/>
              <a:ea typeface="Calibri"/>
              <a:cs typeface="Calibri"/>
              <a:sym typeface="Calibri"/>
            </a:endParaRPr>
          </a:p>
          <a:p>
            <a:pPr indent="0" lvl="0" marL="0" marR="0" rtl="0" algn="l">
              <a:lnSpc>
                <a:spcPct val="130000"/>
              </a:lnSpc>
              <a:spcBef>
                <a:spcPts val="0"/>
              </a:spcBef>
              <a:spcAft>
                <a:spcPts val="0"/>
              </a:spcAft>
              <a:buClr>
                <a:srgbClr val="1A1A1A"/>
              </a:buClr>
              <a:buSzPts val="1100"/>
              <a:buFont typeface="Arial"/>
              <a:buNone/>
            </a:pPr>
            <a:r>
              <a:rPr b="0" i="0" lang="en-US" sz="1300" u="none" cap="none" strike="noStrike">
                <a:solidFill>
                  <a:srgbClr val="1A1A1A"/>
                </a:solidFill>
                <a:latin typeface="Arial"/>
                <a:ea typeface="Arial"/>
                <a:cs typeface="Arial"/>
                <a:sym typeface="Arial"/>
              </a:rPr>
              <a:t>Used for baseline parameters</a:t>
            </a:r>
            <a:endParaRPr b="0" i="0" sz="1300" u="none" cap="none" strike="noStrike">
              <a:solidFill>
                <a:srgbClr val="000000"/>
              </a:solidFill>
              <a:latin typeface="Calibri"/>
              <a:ea typeface="Calibri"/>
              <a:cs typeface="Calibri"/>
              <a:sym typeface="Calibri"/>
            </a:endParaRPr>
          </a:p>
          <a:p>
            <a:pPr indent="0" lvl="0" marL="0" marR="0" rtl="0" algn="l">
              <a:lnSpc>
                <a:spcPct val="130000"/>
              </a:lnSpc>
              <a:spcBef>
                <a:spcPts val="0"/>
              </a:spcBef>
              <a:spcAft>
                <a:spcPts val="0"/>
              </a:spcAft>
              <a:buClr>
                <a:srgbClr val="1A1A1A"/>
              </a:buClr>
              <a:buSzPts val="1100"/>
              <a:buFont typeface="Arial"/>
              <a:buNone/>
            </a:pPr>
            <a:r>
              <a:rPr b="0" i="0" lang="en-US" sz="1300" u="none" cap="none" strike="noStrike">
                <a:solidFill>
                  <a:srgbClr val="1A1A1A"/>
                </a:solidFill>
                <a:latin typeface="Arial"/>
                <a:ea typeface="Arial"/>
                <a:cs typeface="Arial"/>
                <a:sym typeface="Arial"/>
              </a:rPr>
              <a:t>(participation rate, ICC)</a:t>
            </a:r>
            <a:endParaRPr b="0" i="0" sz="1300" u="none" cap="none" strike="noStrike">
              <a:solidFill>
                <a:srgbClr val="000000"/>
              </a:solidFill>
              <a:latin typeface="Calibri"/>
              <a:ea typeface="Calibri"/>
              <a:cs typeface="Calibri"/>
              <a:sym typeface="Calibri"/>
            </a:endParaRPr>
          </a:p>
        </p:txBody>
      </p:sp>
      <p:sp>
        <p:nvSpPr>
          <p:cNvPr id="210" name="Google Shape;210;p22"/>
          <p:cNvSpPr/>
          <p:nvPr/>
        </p:nvSpPr>
        <p:spPr>
          <a:xfrm>
            <a:off x="4846191" y="1078505"/>
            <a:ext cx="3840600" cy="146310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p:nvPr/>
        </p:nvSpPr>
        <p:spPr>
          <a:xfrm>
            <a:off x="4846191" y="1078505"/>
            <a:ext cx="63900" cy="1463100"/>
          </a:xfrm>
          <a:prstGeom prst="rect">
            <a:avLst/>
          </a:prstGeom>
          <a:solidFill>
            <a:srgbClr val="4A90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2"/>
          <p:cNvSpPr/>
          <p:nvPr/>
        </p:nvSpPr>
        <p:spPr>
          <a:xfrm>
            <a:off x="5120511" y="1169945"/>
            <a:ext cx="3383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400"/>
              <a:buFont typeface="Arial"/>
              <a:buNone/>
            </a:pPr>
            <a:r>
              <a:rPr b="1" i="0" lang="en-US" sz="1600" u="none" cap="none" strike="noStrike">
                <a:solidFill>
                  <a:srgbClr val="041E42"/>
                </a:solidFill>
                <a:latin typeface="Arial"/>
                <a:ea typeface="Arial"/>
                <a:cs typeface="Arial"/>
                <a:sym typeface="Arial"/>
              </a:rPr>
              <a:t>Our Panel Survey</a:t>
            </a:r>
            <a:endParaRPr b="0" i="0" sz="1600" u="none" cap="none" strike="noStrike">
              <a:solidFill>
                <a:srgbClr val="000000"/>
              </a:solidFill>
              <a:latin typeface="Calibri"/>
              <a:ea typeface="Calibri"/>
              <a:cs typeface="Calibri"/>
              <a:sym typeface="Calibri"/>
            </a:endParaRPr>
          </a:p>
        </p:txBody>
      </p:sp>
      <p:sp>
        <p:nvSpPr>
          <p:cNvPr id="213" name="Google Shape;213;p22"/>
          <p:cNvSpPr/>
          <p:nvPr/>
        </p:nvSpPr>
        <p:spPr>
          <a:xfrm>
            <a:off x="5120511" y="1489985"/>
            <a:ext cx="3383400" cy="914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A1A1A"/>
              </a:buClr>
              <a:buSzPts val="1100"/>
              <a:buFont typeface="Arial"/>
              <a:buNone/>
            </a:pPr>
            <a:r>
              <a:rPr b="0" i="0" lang="en-US" sz="1300" u="none" cap="none" strike="noStrike">
                <a:solidFill>
                  <a:srgbClr val="1A1A1A"/>
                </a:solidFill>
                <a:latin typeface="Arial"/>
                <a:ea typeface="Arial"/>
                <a:cs typeface="Arial"/>
                <a:sym typeface="Arial"/>
              </a:rPr>
              <a:t>Original data collection</a:t>
            </a:r>
            <a:endParaRPr b="0" i="0" sz="1300" u="none" cap="none" strike="noStrike">
              <a:solidFill>
                <a:srgbClr val="000000"/>
              </a:solidFill>
              <a:latin typeface="Calibri"/>
              <a:ea typeface="Calibri"/>
              <a:cs typeface="Calibri"/>
              <a:sym typeface="Calibri"/>
            </a:endParaRPr>
          </a:p>
          <a:p>
            <a:pPr indent="0" lvl="0" marL="0" marR="0" rtl="0" algn="l">
              <a:lnSpc>
                <a:spcPct val="130000"/>
              </a:lnSpc>
              <a:spcBef>
                <a:spcPts val="0"/>
              </a:spcBef>
              <a:spcAft>
                <a:spcPts val="0"/>
              </a:spcAft>
              <a:buClr>
                <a:srgbClr val="1A1A1A"/>
              </a:buClr>
              <a:buSzPts val="1100"/>
              <a:buFont typeface="Arial"/>
              <a:buNone/>
            </a:pPr>
            <a:r>
              <a:rPr b="0" i="0" lang="en-US" sz="1300" u="none" cap="none" strike="noStrike">
                <a:solidFill>
                  <a:srgbClr val="1A1A1A"/>
                </a:solidFill>
                <a:latin typeface="Arial"/>
                <a:ea typeface="Arial"/>
                <a:cs typeface="Arial"/>
                <a:sym typeface="Arial"/>
              </a:rPr>
              <a:t>4 rounds: Baseline, Midline 1 (~6mo),</a:t>
            </a:r>
            <a:endParaRPr b="0" i="0" sz="1300" u="none" cap="none" strike="noStrike">
              <a:solidFill>
                <a:srgbClr val="000000"/>
              </a:solidFill>
              <a:latin typeface="Calibri"/>
              <a:ea typeface="Calibri"/>
              <a:cs typeface="Calibri"/>
              <a:sym typeface="Calibri"/>
            </a:endParaRPr>
          </a:p>
          <a:p>
            <a:pPr indent="0" lvl="0" marL="0" marR="0" rtl="0" algn="l">
              <a:lnSpc>
                <a:spcPct val="130000"/>
              </a:lnSpc>
              <a:spcBef>
                <a:spcPts val="0"/>
              </a:spcBef>
              <a:spcAft>
                <a:spcPts val="0"/>
              </a:spcAft>
              <a:buClr>
                <a:srgbClr val="1A1A1A"/>
              </a:buClr>
              <a:buSzPts val="1100"/>
              <a:buFont typeface="Arial"/>
              <a:buNone/>
            </a:pPr>
            <a:r>
              <a:rPr b="0" i="0" lang="en-US" sz="1300" u="none" cap="none" strike="noStrike">
                <a:solidFill>
                  <a:srgbClr val="1A1A1A"/>
                </a:solidFill>
                <a:latin typeface="Arial"/>
                <a:ea typeface="Arial"/>
                <a:cs typeface="Arial"/>
                <a:sym typeface="Arial"/>
              </a:rPr>
              <a:t>Midline 2 (post-harvest), Endline (24-30mo)</a:t>
            </a:r>
            <a:endParaRPr b="0" i="0" sz="1300" u="none" cap="none" strike="noStrike">
              <a:solidFill>
                <a:srgbClr val="000000"/>
              </a:solidFill>
              <a:latin typeface="Calibri"/>
              <a:ea typeface="Calibri"/>
              <a:cs typeface="Calibri"/>
              <a:sym typeface="Calibri"/>
            </a:endParaRPr>
          </a:p>
          <a:p>
            <a:pPr indent="0" lvl="0" marL="0" marR="0" rtl="0" algn="l">
              <a:lnSpc>
                <a:spcPct val="130000"/>
              </a:lnSpc>
              <a:spcBef>
                <a:spcPts val="0"/>
              </a:spcBef>
              <a:spcAft>
                <a:spcPts val="0"/>
              </a:spcAft>
              <a:buClr>
                <a:srgbClr val="1A1A1A"/>
              </a:buClr>
              <a:buSzPts val="1100"/>
              <a:buFont typeface="Arial"/>
              <a:buNone/>
            </a:pPr>
            <a:r>
              <a:rPr b="0" i="0" lang="en-US" sz="1300" u="none" cap="none" strike="noStrike">
                <a:solidFill>
                  <a:srgbClr val="1A1A1A"/>
                </a:solidFill>
                <a:latin typeface="Arial"/>
                <a:ea typeface="Arial"/>
                <a:cs typeface="Arial"/>
                <a:sym typeface="Arial"/>
              </a:rPr>
              <a:t>Tracks intervention effects over time</a:t>
            </a:r>
            <a:endParaRPr b="0" i="0" sz="1300" u="none" cap="none" strike="noStrike">
              <a:solidFill>
                <a:srgbClr val="000000"/>
              </a:solidFill>
              <a:latin typeface="Calibri"/>
              <a:ea typeface="Calibri"/>
              <a:cs typeface="Calibri"/>
              <a:sym typeface="Calibri"/>
            </a:endParaRPr>
          </a:p>
        </p:txBody>
      </p:sp>
      <p:sp>
        <p:nvSpPr>
          <p:cNvPr id="214" name="Google Shape;214;p22"/>
          <p:cNvSpPr/>
          <p:nvPr/>
        </p:nvSpPr>
        <p:spPr>
          <a:xfrm>
            <a:off x="378049" y="2781527"/>
            <a:ext cx="3309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400"/>
              <a:buFont typeface="Arial"/>
              <a:buNone/>
            </a:pPr>
            <a:r>
              <a:rPr b="1" i="0" lang="en-US" sz="1600" u="none" cap="none" strike="noStrike">
                <a:solidFill>
                  <a:srgbClr val="041E42"/>
                </a:solidFill>
                <a:latin typeface="Arial"/>
                <a:ea typeface="Arial"/>
                <a:cs typeface="Arial"/>
                <a:sym typeface="Arial"/>
              </a:rPr>
              <a:t>Survey Instrument: 4 Modules</a:t>
            </a:r>
            <a:endParaRPr b="0" i="0" sz="1600" u="none" cap="none" strike="noStrike">
              <a:solidFill>
                <a:srgbClr val="000000"/>
              </a:solidFill>
              <a:latin typeface="Calibri"/>
              <a:ea typeface="Calibri"/>
              <a:cs typeface="Calibri"/>
              <a:sym typeface="Calibri"/>
            </a:endParaRPr>
          </a:p>
        </p:txBody>
      </p:sp>
      <p:sp>
        <p:nvSpPr>
          <p:cNvPr id="215" name="Google Shape;215;p22"/>
          <p:cNvSpPr/>
          <p:nvPr/>
        </p:nvSpPr>
        <p:spPr>
          <a:xfrm>
            <a:off x="378040" y="3323532"/>
            <a:ext cx="1965900" cy="960000"/>
          </a:xfrm>
          <a:prstGeom prst="rect">
            <a:avLst/>
          </a:prstGeom>
          <a:solidFill>
            <a:srgbClr val="FFFFFF"/>
          </a:solidFill>
          <a:ln cap="flat" cmpd="sng" w="12700">
            <a:solidFill>
              <a:srgbClr val="4A90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16" name="Google Shape;216;p22"/>
          <p:cNvSpPr/>
          <p:nvPr/>
        </p:nvSpPr>
        <p:spPr>
          <a:xfrm>
            <a:off x="469475" y="3350975"/>
            <a:ext cx="440700" cy="274200"/>
          </a:xfrm>
          <a:prstGeom prst="rect">
            <a:avLst/>
          </a:prstGeom>
          <a:solidFill>
            <a:srgbClr val="041E4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Arial"/>
              <a:buNone/>
            </a:pPr>
            <a:r>
              <a:rPr b="1" i="0" lang="en-US" sz="1300" u="none" cap="none" strike="noStrike">
                <a:solidFill>
                  <a:srgbClr val="FFFFFF"/>
                </a:solidFill>
                <a:latin typeface="Arial"/>
                <a:ea typeface="Arial"/>
                <a:cs typeface="Arial"/>
                <a:sym typeface="Arial"/>
              </a:rPr>
              <a:t>M1</a:t>
            </a:r>
            <a:endParaRPr b="0" i="0" sz="1300" u="none" cap="none" strike="noStrike">
              <a:solidFill>
                <a:srgbClr val="000000"/>
              </a:solidFill>
              <a:latin typeface="Calibri"/>
              <a:ea typeface="Calibri"/>
              <a:cs typeface="Calibri"/>
              <a:sym typeface="Calibri"/>
            </a:endParaRPr>
          </a:p>
        </p:txBody>
      </p:sp>
      <p:sp>
        <p:nvSpPr>
          <p:cNvPr id="217" name="Google Shape;217;p22"/>
          <p:cNvSpPr/>
          <p:nvPr/>
        </p:nvSpPr>
        <p:spPr>
          <a:xfrm>
            <a:off x="938982" y="3360684"/>
            <a:ext cx="137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100"/>
              <a:buFont typeface="Arial"/>
              <a:buNone/>
            </a:pPr>
            <a:r>
              <a:rPr b="1" i="0" lang="en-US" sz="1300" u="none" cap="none" strike="noStrike">
                <a:solidFill>
                  <a:srgbClr val="041E42"/>
                </a:solidFill>
                <a:latin typeface="Arial"/>
                <a:ea typeface="Arial"/>
                <a:cs typeface="Arial"/>
                <a:sym typeface="Arial"/>
              </a:rPr>
              <a:t>Identification</a:t>
            </a:r>
            <a:endParaRPr b="0" i="0" sz="1300" u="none" cap="none" strike="noStrike">
              <a:solidFill>
                <a:srgbClr val="000000"/>
              </a:solidFill>
              <a:latin typeface="Calibri"/>
              <a:ea typeface="Calibri"/>
              <a:cs typeface="Calibri"/>
              <a:sym typeface="Calibri"/>
            </a:endParaRPr>
          </a:p>
        </p:txBody>
      </p:sp>
      <p:sp>
        <p:nvSpPr>
          <p:cNvPr id="218" name="Google Shape;218;p22"/>
          <p:cNvSpPr/>
          <p:nvPr/>
        </p:nvSpPr>
        <p:spPr>
          <a:xfrm>
            <a:off x="469473" y="3597850"/>
            <a:ext cx="1874400" cy="640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B7B8D"/>
              </a:buClr>
              <a:buSzPts val="900"/>
              <a:buFont typeface="Arial"/>
              <a:buNone/>
            </a:pPr>
            <a:r>
              <a:rPr b="0" i="0" lang="en-US" sz="1100" u="none" cap="none" strike="noStrike">
                <a:solidFill>
                  <a:schemeClr val="dk1"/>
                </a:solidFill>
                <a:latin typeface="Arial"/>
                <a:ea typeface="Arial"/>
                <a:cs typeface="Arial"/>
                <a:sym typeface="Arial"/>
              </a:rPr>
              <a:t>Cascading lookup,</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6B7B8D"/>
              </a:buClr>
              <a:buSzPts val="900"/>
              <a:buFont typeface="Arial"/>
              <a:buNone/>
            </a:pPr>
            <a:r>
              <a:rPr b="0" i="0" lang="en-US" sz="1100" u="none" cap="none" strike="noStrike">
                <a:solidFill>
                  <a:schemeClr val="dk1"/>
                </a:solidFill>
                <a:latin typeface="Arial"/>
                <a:ea typeface="Arial"/>
                <a:cs typeface="Arial"/>
                <a:sym typeface="Arial"/>
              </a:rPr>
              <a:t>consent, hidden</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6B7B8D"/>
              </a:buClr>
              <a:buSzPts val="900"/>
              <a:buFont typeface="Arial"/>
              <a:buNone/>
            </a:pPr>
            <a:r>
              <a:rPr b="0" i="0" lang="en-US" sz="1100" u="none" cap="none" strike="noStrike">
                <a:solidFill>
                  <a:schemeClr val="dk1"/>
                </a:solidFill>
                <a:latin typeface="Arial"/>
                <a:ea typeface="Arial"/>
                <a:cs typeface="Arial"/>
                <a:sym typeface="Arial"/>
              </a:rPr>
              <a:t>treatment arm</a:t>
            </a:r>
            <a:endParaRPr b="0" i="0" sz="1100" u="none" cap="none" strike="noStrike">
              <a:solidFill>
                <a:schemeClr val="dk1"/>
              </a:solidFill>
              <a:latin typeface="Calibri"/>
              <a:ea typeface="Calibri"/>
              <a:cs typeface="Calibri"/>
              <a:sym typeface="Calibri"/>
            </a:endParaRPr>
          </a:p>
        </p:txBody>
      </p:sp>
      <p:sp>
        <p:nvSpPr>
          <p:cNvPr id="219" name="Google Shape;219;p22"/>
          <p:cNvSpPr/>
          <p:nvPr/>
        </p:nvSpPr>
        <p:spPr>
          <a:xfrm>
            <a:off x="2526880" y="3323532"/>
            <a:ext cx="1965900" cy="960000"/>
          </a:xfrm>
          <a:prstGeom prst="rect">
            <a:avLst/>
          </a:prstGeom>
          <a:solidFill>
            <a:srgbClr val="FFFFFF"/>
          </a:solidFill>
          <a:ln cap="flat" cmpd="sng" w="12700">
            <a:solidFill>
              <a:srgbClr val="4A90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20" name="Google Shape;220;p22"/>
          <p:cNvSpPr/>
          <p:nvPr/>
        </p:nvSpPr>
        <p:spPr>
          <a:xfrm>
            <a:off x="2618325" y="3350975"/>
            <a:ext cx="440700" cy="274200"/>
          </a:xfrm>
          <a:prstGeom prst="rect">
            <a:avLst/>
          </a:prstGeom>
          <a:solidFill>
            <a:srgbClr val="041E4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Arial"/>
              <a:buNone/>
            </a:pPr>
            <a:r>
              <a:rPr b="1" i="0" lang="en-US" sz="1300" u="none" cap="none" strike="noStrike">
                <a:solidFill>
                  <a:srgbClr val="FFFFFF"/>
                </a:solidFill>
                <a:latin typeface="Arial"/>
                <a:ea typeface="Arial"/>
                <a:cs typeface="Arial"/>
                <a:sym typeface="Arial"/>
              </a:rPr>
              <a:t>M2</a:t>
            </a:r>
            <a:endParaRPr b="0" i="0" sz="1300" u="none" cap="none" strike="noStrike">
              <a:solidFill>
                <a:srgbClr val="000000"/>
              </a:solidFill>
              <a:latin typeface="Calibri"/>
              <a:ea typeface="Calibri"/>
              <a:cs typeface="Calibri"/>
              <a:sym typeface="Calibri"/>
            </a:endParaRPr>
          </a:p>
        </p:txBody>
      </p:sp>
      <p:sp>
        <p:nvSpPr>
          <p:cNvPr id="221" name="Google Shape;221;p22"/>
          <p:cNvSpPr/>
          <p:nvPr/>
        </p:nvSpPr>
        <p:spPr>
          <a:xfrm>
            <a:off x="3078102" y="3360684"/>
            <a:ext cx="137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100"/>
              <a:buFont typeface="Arial"/>
              <a:buNone/>
            </a:pPr>
            <a:r>
              <a:rPr b="1" i="0" lang="en-US" sz="1300" u="none" cap="none" strike="noStrike">
                <a:solidFill>
                  <a:srgbClr val="041E42"/>
                </a:solidFill>
                <a:latin typeface="Arial"/>
                <a:ea typeface="Arial"/>
                <a:cs typeface="Arial"/>
                <a:sym typeface="Arial"/>
              </a:rPr>
              <a:t>Demographics</a:t>
            </a:r>
            <a:endParaRPr b="0" i="0" sz="1300" u="none" cap="none" strike="noStrike">
              <a:solidFill>
                <a:srgbClr val="000000"/>
              </a:solidFill>
              <a:latin typeface="Calibri"/>
              <a:ea typeface="Calibri"/>
              <a:cs typeface="Calibri"/>
              <a:sym typeface="Calibri"/>
            </a:endParaRPr>
          </a:p>
        </p:txBody>
      </p:sp>
      <p:sp>
        <p:nvSpPr>
          <p:cNvPr id="222" name="Google Shape;222;p22"/>
          <p:cNvSpPr/>
          <p:nvPr/>
        </p:nvSpPr>
        <p:spPr>
          <a:xfrm>
            <a:off x="2618320" y="3597853"/>
            <a:ext cx="1783200" cy="640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B7B8D"/>
              </a:buClr>
              <a:buSzPts val="900"/>
              <a:buFont typeface="Arial"/>
              <a:buNone/>
            </a:pPr>
            <a:r>
              <a:rPr b="0" i="0" lang="en-US" sz="1100" u="none" cap="none" strike="noStrike">
                <a:solidFill>
                  <a:schemeClr val="dk1"/>
                </a:solidFill>
                <a:latin typeface="Arial"/>
                <a:ea typeface="Arial"/>
                <a:cs typeface="Arial"/>
                <a:sym typeface="Arial"/>
              </a:rPr>
              <a:t>Age, education,</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6B7B8D"/>
              </a:buClr>
              <a:buSzPts val="900"/>
              <a:buFont typeface="Arial"/>
              <a:buNone/>
            </a:pPr>
            <a:r>
              <a:rPr b="0" i="0" lang="en-US" sz="1100" u="none" cap="none" strike="noStrike">
                <a:solidFill>
                  <a:schemeClr val="dk1"/>
                </a:solidFill>
                <a:latin typeface="Arial"/>
                <a:ea typeface="Arial"/>
                <a:cs typeface="Arial"/>
                <a:sym typeface="Arial"/>
              </a:rPr>
              <a:t>land, HH roster</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6B7B8D"/>
              </a:buClr>
              <a:buSzPts val="900"/>
              <a:buFont typeface="Arial"/>
              <a:buNone/>
            </a:pPr>
            <a:r>
              <a:rPr b="0" i="0" lang="en-US" sz="1100" u="none" cap="none" strike="noStrike">
                <a:solidFill>
                  <a:schemeClr val="dk1"/>
                </a:solidFill>
                <a:latin typeface="Arial"/>
                <a:ea typeface="Arial"/>
                <a:cs typeface="Arial"/>
                <a:sym typeface="Arial"/>
              </a:rPr>
              <a:t>(denominator)</a:t>
            </a:r>
            <a:endParaRPr b="0" i="0" sz="1100" u="none" cap="none" strike="noStrike">
              <a:solidFill>
                <a:schemeClr val="dk1"/>
              </a:solidFill>
              <a:latin typeface="Calibri"/>
              <a:ea typeface="Calibri"/>
              <a:cs typeface="Calibri"/>
              <a:sym typeface="Calibri"/>
            </a:endParaRPr>
          </a:p>
        </p:txBody>
      </p:sp>
      <p:sp>
        <p:nvSpPr>
          <p:cNvPr id="223" name="Google Shape;223;p22"/>
          <p:cNvSpPr/>
          <p:nvPr/>
        </p:nvSpPr>
        <p:spPr>
          <a:xfrm>
            <a:off x="378045" y="4510883"/>
            <a:ext cx="1965900" cy="960000"/>
          </a:xfrm>
          <a:prstGeom prst="rect">
            <a:avLst/>
          </a:prstGeom>
          <a:solidFill>
            <a:srgbClr val="FFFFFF"/>
          </a:solidFill>
          <a:ln cap="flat" cmpd="sng" w="12700">
            <a:solidFill>
              <a:srgbClr val="4A90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24" name="Google Shape;224;p22"/>
          <p:cNvSpPr/>
          <p:nvPr/>
        </p:nvSpPr>
        <p:spPr>
          <a:xfrm>
            <a:off x="469475" y="4538325"/>
            <a:ext cx="440700" cy="274200"/>
          </a:xfrm>
          <a:prstGeom prst="rect">
            <a:avLst/>
          </a:prstGeom>
          <a:solidFill>
            <a:srgbClr val="041E4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Arial"/>
              <a:buNone/>
            </a:pPr>
            <a:r>
              <a:rPr b="1" i="0" lang="en-US" sz="1300" u="none" cap="none" strike="noStrike">
                <a:solidFill>
                  <a:srgbClr val="FFFFFF"/>
                </a:solidFill>
                <a:latin typeface="Arial"/>
                <a:ea typeface="Arial"/>
                <a:cs typeface="Arial"/>
                <a:sym typeface="Arial"/>
              </a:rPr>
              <a:t>M3</a:t>
            </a:r>
            <a:endParaRPr b="0" i="0" sz="1300" u="none" cap="none" strike="noStrike">
              <a:solidFill>
                <a:srgbClr val="000000"/>
              </a:solidFill>
              <a:latin typeface="Calibri"/>
              <a:ea typeface="Calibri"/>
              <a:cs typeface="Calibri"/>
              <a:sym typeface="Calibri"/>
            </a:endParaRPr>
          </a:p>
        </p:txBody>
      </p:sp>
      <p:sp>
        <p:nvSpPr>
          <p:cNvPr id="225" name="Google Shape;225;p22"/>
          <p:cNvSpPr/>
          <p:nvPr/>
        </p:nvSpPr>
        <p:spPr>
          <a:xfrm>
            <a:off x="929267" y="4548034"/>
            <a:ext cx="137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100"/>
              <a:buFont typeface="Arial"/>
              <a:buNone/>
            </a:pPr>
            <a:r>
              <a:rPr b="1" i="0" lang="en-US" sz="1300" u="none" cap="none" strike="noStrike">
                <a:solidFill>
                  <a:srgbClr val="041E42"/>
                </a:solidFill>
                <a:latin typeface="Arial"/>
                <a:ea typeface="Arial"/>
                <a:cs typeface="Arial"/>
                <a:sym typeface="Arial"/>
              </a:rPr>
              <a:t>Agri Labor</a:t>
            </a:r>
            <a:endParaRPr b="0" i="0" sz="1300" u="none" cap="none" strike="noStrike">
              <a:solidFill>
                <a:srgbClr val="000000"/>
              </a:solidFill>
              <a:latin typeface="Calibri"/>
              <a:ea typeface="Calibri"/>
              <a:cs typeface="Calibri"/>
              <a:sym typeface="Calibri"/>
            </a:endParaRPr>
          </a:p>
        </p:txBody>
      </p:sp>
      <p:sp>
        <p:nvSpPr>
          <p:cNvPr id="226" name="Google Shape;226;p22"/>
          <p:cNvSpPr/>
          <p:nvPr/>
        </p:nvSpPr>
        <p:spPr>
          <a:xfrm>
            <a:off x="469474" y="4785213"/>
            <a:ext cx="1894500" cy="640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B7B8D"/>
              </a:buClr>
              <a:buSzPts val="900"/>
              <a:buFont typeface="Arial"/>
              <a:buNone/>
            </a:pPr>
            <a:r>
              <a:rPr b="0" i="0" lang="en-US" sz="1100" u="none" cap="none" strike="noStrike">
                <a:solidFill>
                  <a:schemeClr val="dk1"/>
                </a:solidFill>
                <a:latin typeface="Arial"/>
                <a:ea typeface="Arial"/>
                <a:cs typeface="Arial"/>
                <a:sym typeface="Arial"/>
              </a:rPr>
              <a:t>Days worked,</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6B7B8D"/>
              </a:buClr>
              <a:buSzPts val="900"/>
              <a:buFont typeface="Arial"/>
              <a:buNone/>
            </a:pPr>
            <a:r>
              <a:rPr b="0" i="0" lang="en-US" sz="1100" u="none" cap="none" strike="noStrike">
                <a:solidFill>
                  <a:schemeClr val="dk1"/>
                </a:solidFill>
                <a:latin typeface="Arial"/>
                <a:ea typeface="Arial"/>
                <a:cs typeface="Arial"/>
                <a:sym typeface="Arial"/>
              </a:rPr>
              <a:t>income, credit</a:t>
            </a:r>
            <a:r>
              <a:rPr lang="en-US" sz="1100">
                <a:solidFill>
                  <a:schemeClr val="dk1"/>
                </a:solidFill>
                <a:latin typeface="Calibri"/>
                <a:ea typeface="Calibri"/>
                <a:cs typeface="Calibri"/>
                <a:sym typeface="Calibri"/>
              </a:rPr>
              <a:t> </a:t>
            </a:r>
            <a:r>
              <a:rPr b="0" i="0" lang="en-US" sz="1100" u="none" cap="none" strike="noStrike">
                <a:solidFill>
                  <a:schemeClr val="dk1"/>
                </a:solidFill>
                <a:latin typeface="Arial"/>
                <a:ea typeface="Arial"/>
                <a:cs typeface="Arial"/>
                <a:sym typeface="Arial"/>
              </a:rPr>
              <a:t>+ consistency checks</a:t>
            </a:r>
            <a:endParaRPr b="0" i="0" sz="1100" u="none" cap="none" strike="noStrike">
              <a:solidFill>
                <a:schemeClr val="dk1"/>
              </a:solidFill>
              <a:latin typeface="Calibri"/>
              <a:ea typeface="Calibri"/>
              <a:cs typeface="Calibri"/>
              <a:sym typeface="Calibri"/>
            </a:endParaRPr>
          </a:p>
        </p:txBody>
      </p:sp>
      <p:sp>
        <p:nvSpPr>
          <p:cNvPr id="227" name="Google Shape;227;p22"/>
          <p:cNvSpPr/>
          <p:nvPr/>
        </p:nvSpPr>
        <p:spPr>
          <a:xfrm>
            <a:off x="2526885" y="4510883"/>
            <a:ext cx="1965900" cy="960000"/>
          </a:xfrm>
          <a:prstGeom prst="rect">
            <a:avLst/>
          </a:prstGeom>
          <a:solidFill>
            <a:srgbClr val="FFFFFF"/>
          </a:solidFill>
          <a:ln cap="flat" cmpd="sng" w="12700">
            <a:solidFill>
              <a:srgbClr val="4A90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28" name="Google Shape;228;p22"/>
          <p:cNvSpPr/>
          <p:nvPr/>
        </p:nvSpPr>
        <p:spPr>
          <a:xfrm>
            <a:off x="2618325" y="4538325"/>
            <a:ext cx="440700" cy="274200"/>
          </a:xfrm>
          <a:prstGeom prst="rect">
            <a:avLst/>
          </a:prstGeom>
          <a:solidFill>
            <a:srgbClr val="041E4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Arial"/>
              <a:buNone/>
            </a:pPr>
            <a:r>
              <a:rPr b="1" i="0" lang="en-US" sz="1300" u="none" cap="none" strike="noStrike">
                <a:solidFill>
                  <a:srgbClr val="FFFFFF"/>
                </a:solidFill>
                <a:latin typeface="Arial"/>
                <a:ea typeface="Arial"/>
                <a:cs typeface="Arial"/>
                <a:sym typeface="Arial"/>
              </a:rPr>
              <a:t>M4</a:t>
            </a:r>
            <a:endParaRPr b="0" i="0" sz="1300" u="none" cap="none" strike="noStrike">
              <a:solidFill>
                <a:srgbClr val="000000"/>
              </a:solidFill>
              <a:latin typeface="Calibri"/>
              <a:ea typeface="Calibri"/>
              <a:cs typeface="Calibri"/>
              <a:sym typeface="Calibri"/>
            </a:endParaRPr>
          </a:p>
        </p:txBody>
      </p:sp>
      <p:sp>
        <p:nvSpPr>
          <p:cNvPr id="229" name="Google Shape;229;p22"/>
          <p:cNvSpPr/>
          <p:nvPr/>
        </p:nvSpPr>
        <p:spPr>
          <a:xfrm>
            <a:off x="3092539" y="4548034"/>
            <a:ext cx="137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100"/>
              <a:buFont typeface="Arial"/>
              <a:buNone/>
            </a:pPr>
            <a:r>
              <a:rPr b="1" i="0" lang="en-US" sz="1300" u="none" cap="none" strike="noStrike">
                <a:solidFill>
                  <a:srgbClr val="041E42"/>
                </a:solidFill>
                <a:latin typeface="Arial"/>
                <a:ea typeface="Arial"/>
                <a:cs typeface="Arial"/>
                <a:sym typeface="Arial"/>
              </a:rPr>
              <a:t>Outcomes</a:t>
            </a:r>
            <a:endParaRPr b="0" i="0" sz="1300" u="none" cap="none" strike="noStrike">
              <a:solidFill>
                <a:srgbClr val="000000"/>
              </a:solidFill>
              <a:latin typeface="Calibri"/>
              <a:ea typeface="Calibri"/>
              <a:cs typeface="Calibri"/>
              <a:sym typeface="Calibri"/>
            </a:endParaRPr>
          </a:p>
        </p:txBody>
      </p:sp>
      <p:sp>
        <p:nvSpPr>
          <p:cNvPr id="230" name="Google Shape;230;p22"/>
          <p:cNvSpPr/>
          <p:nvPr/>
        </p:nvSpPr>
        <p:spPr>
          <a:xfrm>
            <a:off x="2618325" y="4785203"/>
            <a:ext cx="1783200" cy="640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B7B8D"/>
              </a:buClr>
              <a:buSzPts val="900"/>
              <a:buFont typeface="Arial"/>
              <a:buNone/>
            </a:pPr>
            <a:r>
              <a:rPr b="0" i="0" lang="en-US" sz="1100" u="none" cap="none" strike="noStrike">
                <a:solidFill>
                  <a:schemeClr val="dk1"/>
                </a:solidFill>
                <a:latin typeface="Arial"/>
                <a:ea typeface="Arial"/>
                <a:cs typeface="Arial"/>
                <a:sym typeface="Arial"/>
              </a:rPr>
              <a:t>LFPR, agri share,</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6B7B8D"/>
              </a:buClr>
              <a:buSzPts val="900"/>
              <a:buFont typeface="Arial"/>
              <a:buNone/>
            </a:pPr>
            <a:r>
              <a:rPr b="0" i="0" lang="en-US" sz="1100" u="none" cap="none" strike="noStrike">
                <a:solidFill>
                  <a:schemeClr val="dk1"/>
                </a:solidFill>
                <a:latin typeface="Arial"/>
                <a:ea typeface="Arial"/>
                <a:cs typeface="Arial"/>
                <a:sym typeface="Arial"/>
              </a:rPr>
              <a:t>decision-making</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6B7B8D"/>
              </a:buClr>
              <a:buSzPts val="900"/>
              <a:buFont typeface="Arial"/>
              <a:buNone/>
            </a:pPr>
            <a:r>
              <a:rPr b="0" i="0" lang="en-US" sz="1100" u="none" cap="none" strike="noStrike">
                <a:solidFill>
                  <a:schemeClr val="dk1"/>
                </a:solidFill>
                <a:latin typeface="Arial"/>
                <a:ea typeface="Arial"/>
                <a:cs typeface="Arial"/>
                <a:sym typeface="Arial"/>
              </a:rPr>
              <a:t>(pro-WEAI)</a:t>
            </a:r>
            <a:endParaRPr b="0" i="0" sz="1100" u="none" cap="none" strike="noStrike">
              <a:solidFill>
                <a:schemeClr val="dk1"/>
              </a:solidFill>
              <a:latin typeface="Calibri"/>
              <a:ea typeface="Calibri"/>
              <a:cs typeface="Calibri"/>
              <a:sym typeface="Calibri"/>
            </a:endParaRPr>
          </a:p>
        </p:txBody>
      </p:sp>
      <p:sp>
        <p:nvSpPr>
          <p:cNvPr id="231" name="Google Shape;231;p22"/>
          <p:cNvSpPr txBox="1"/>
          <p:nvPr>
            <p:ph type="title"/>
          </p:nvPr>
        </p:nvSpPr>
        <p:spPr>
          <a:xfrm>
            <a:off x="341638" y="734863"/>
            <a:ext cx="2377200" cy="320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2D50"/>
              </a:buClr>
              <a:buSzPts val="2430"/>
              <a:buFont typeface="Helvetica Neue"/>
              <a:buNone/>
            </a:pPr>
            <a:r>
              <a:rPr lang="en-US" sz="1601"/>
              <a:t>Two Data Sources</a:t>
            </a:r>
            <a:endParaRPr sz="1601"/>
          </a:p>
        </p:txBody>
      </p:sp>
      <p:sp>
        <p:nvSpPr>
          <p:cNvPr id="232" name="Google Shape;232;p22"/>
          <p:cNvSpPr/>
          <p:nvPr/>
        </p:nvSpPr>
        <p:spPr>
          <a:xfrm>
            <a:off x="341640" y="193340"/>
            <a:ext cx="8046600" cy="59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D50"/>
              </a:buClr>
              <a:buSzPts val="2700"/>
              <a:buFont typeface="Helvetica Neue"/>
              <a:buNone/>
            </a:pPr>
            <a:r>
              <a:rPr b="1" lang="en-US" sz="2901">
                <a:solidFill>
                  <a:srgbClr val="002D50"/>
                </a:solidFill>
                <a:latin typeface="Helvetica Neue"/>
                <a:ea typeface="Helvetica Neue"/>
                <a:cs typeface="Helvetica Neue"/>
                <a:sym typeface="Helvetica Neue"/>
              </a:rPr>
              <a:t>Data Collection &amp; Outcome</a:t>
            </a:r>
            <a:endParaRPr b="1" sz="2901">
              <a:solidFill>
                <a:srgbClr val="002D50"/>
              </a:solidFill>
              <a:latin typeface="Helvetica Neue"/>
              <a:ea typeface="Helvetica Neue"/>
              <a:cs typeface="Helvetica Neue"/>
              <a:sym typeface="Helvetica Neue"/>
            </a:endParaRPr>
          </a:p>
        </p:txBody>
      </p:sp>
      <p:sp>
        <p:nvSpPr>
          <p:cNvPr id="233" name="Google Shape;233;p22"/>
          <p:cNvSpPr/>
          <p:nvPr/>
        </p:nvSpPr>
        <p:spPr>
          <a:xfrm>
            <a:off x="4910094" y="2723806"/>
            <a:ext cx="4464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600"/>
              <a:buFont typeface="Arial"/>
              <a:buNone/>
            </a:pPr>
            <a:r>
              <a:rPr b="1" i="0" lang="en-US" sz="1600" u="none" cap="none" strike="noStrike">
                <a:solidFill>
                  <a:srgbClr val="041E42"/>
                </a:solidFill>
                <a:latin typeface="Arial"/>
                <a:ea typeface="Arial"/>
                <a:cs typeface="Arial"/>
                <a:sym typeface="Arial"/>
              </a:rPr>
              <a:t>Primary Outcomes</a:t>
            </a:r>
            <a:endParaRPr b="0" i="0" sz="1600" u="none" cap="none" strike="noStrike">
              <a:solidFill>
                <a:srgbClr val="000000"/>
              </a:solidFill>
              <a:latin typeface="Calibri"/>
              <a:ea typeface="Calibri"/>
              <a:cs typeface="Calibri"/>
              <a:sym typeface="Calibri"/>
            </a:endParaRPr>
          </a:p>
        </p:txBody>
      </p:sp>
      <p:sp>
        <p:nvSpPr>
          <p:cNvPr id="234" name="Google Shape;234;p22"/>
          <p:cNvSpPr/>
          <p:nvPr/>
        </p:nvSpPr>
        <p:spPr>
          <a:xfrm>
            <a:off x="4967741" y="3094818"/>
            <a:ext cx="3309900" cy="1188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2"/>
          <p:cNvSpPr/>
          <p:nvPr/>
        </p:nvSpPr>
        <p:spPr>
          <a:xfrm>
            <a:off x="5150625" y="3140518"/>
            <a:ext cx="1290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400"/>
              <a:buFont typeface="Arial"/>
              <a:buNone/>
            </a:pPr>
            <a:r>
              <a:rPr b="1" i="0" lang="en-US" sz="1400" u="none" cap="none" strike="noStrike">
                <a:solidFill>
                  <a:srgbClr val="041E42"/>
                </a:solidFill>
                <a:latin typeface="Arial"/>
                <a:ea typeface="Arial"/>
                <a:cs typeface="Arial"/>
                <a:sym typeface="Arial"/>
              </a:rPr>
              <a:t>Female LFPR</a:t>
            </a:r>
            <a:endParaRPr b="0" i="0" sz="1400" u="none" cap="none" strike="noStrike">
              <a:solidFill>
                <a:srgbClr val="000000"/>
              </a:solidFill>
              <a:latin typeface="Calibri"/>
              <a:ea typeface="Calibri"/>
              <a:cs typeface="Calibri"/>
              <a:sym typeface="Calibri"/>
            </a:endParaRPr>
          </a:p>
        </p:txBody>
      </p:sp>
      <p:sp>
        <p:nvSpPr>
          <p:cNvPr id="236" name="Google Shape;236;p22"/>
          <p:cNvSpPr/>
          <p:nvPr/>
        </p:nvSpPr>
        <p:spPr>
          <a:xfrm>
            <a:off x="5150629" y="3460593"/>
            <a:ext cx="3657600" cy="7773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A1A1A"/>
              </a:buClr>
              <a:buSzPts val="1100"/>
              <a:buFont typeface="Arial"/>
              <a:buNone/>
            </a:pPr>
            <a:r>
              <a:rPr b="0" i="0" lang="en-US" sz="1200" u="none" cap="none" strike="noStrike">
                <a:solidFill>
                  <a:srgbClr val="1A1A1A"/>
                </a:solidFill>
                <a:latin typeface="Arial"/>
                <a:ea typeface="Arial"/>
                <a:cs typeface="Arial"/>
                <a:sym typeface="Arial"/>
              </a:rPr>
              <a:t>Women who worked in past 7 days (D1a)</a:t>
            </a:r>
            <a:endParaRPr b="0" i="0" sz="1200" u="none" cap="none" strike="noStrike">
              <a:solidFill>
                <a:srgbClr val="000000"/>
              </a:solidFill>
              <a:latin typeface="Calibri"/>
              <a:ea typeface="Calibri"/>
              <a:cs typeface="Calibri"/>
              <a:sym typeface="Calibri"/>
            </a:endParaRPr>
          </a:p>
          <a:p>
            <a:pPr indent="0" lvl="0" marL="0" marR="0" rtl="0" algn="l">
              <a:lnSpc>
                <a:spcPct val="120000"/>
              </a:lnSpc>
              <a:spcBef>
                <a:spcPts val="0"/>
              </a:spcBef>
              <a:spcAft>
                <a:spcPts val="0"/>
              </a:spcAft>
              <a:buClr>
                <a:srgbClr val="1A1A1A"/>
              </a:buClr>
              <a:buSzPts val="1100"/>
              <a:buFont typeface="Arial"/>
              <a:buNone/>
            </a:pPr>
            <a:r>
              <a:rPr b="0" i="0" lang="en-US" sz="1200" u="none" cap="none" strike="noStrike">
                <a:solidFill>
                  <a:srgbClr val="1A1A1A"/>
                </a:solidFill>
                <a:latin typeface="Arial"/>
                <a:ea typeface="Arial"/>
                <a:cs typeface="Arial"/>
                <a:sym typeface="Arial"/>
              </a:rPr>
              <a:t>÷ total adult women in household (B2b)</a:t>
            </a:r>
            <a:r>
              <a:rPr lang="en-US" sz="1200">
                <a:solidFill>
                  <a:srgbClr val="000000"/>
                </a:solidFill>
                <a:latin typeface="Calibri"/>
                <a:ea typeface="Calibri"/>
                <a:cs typeface="Calibri"/>
                <a:sym typeface="Calibri"/>
              </a:rPr>
              <a:t> </a:t>
            </a:r>
            <a:r>
              <a:rPr b="0" i="0" lang="en-US" sz="1200" u="none" cap="none" strike="noStrike">
                <a:solidFill>
                  <a:srgbClr val="1A1A1A"/>
                </a:solidFill>
                <a:latin typeface="Arial"/>
                <a:ea typeface="Arial"/>
                <a:cs typeface="Arial"/>
                <a:sym typeface="Arial"/>
              </a:rPr>
              <a:t>× 100</a:t>
            </a:r>
            <a:endParaRPr b="0" i="0" sz="1200" u="none" cap="none" strike="noStrike">
              <a:solidFill>
                <a:srgbClr val="000000"/>
              </a:solidFill>
              <a:latin typeface="Calibri"/>
              <a:ea typeface="Calibri"/>
              <a:cs typeface="Calibri"/>
              <a:sym typeface="Calibri"/>
            </a:endParaRPr>
          </a:p>
          <a:p>
            <a:pPr indent="0" lvl="0" marL="0" marR="0" rtl="0" algn="l">
              <a:lnSpc>
                <a:spcPct val="120000"/>
              </a:lnSpc>
              <a:spcBef>
                <a:spcPts val="0"/>
              </a:spcBef>
              <a:spcAft>
                <a:spcPts val="0"/>
              </a:spcAft>
              <a:buClr>
                <a:srgbClr val="1A1A1A"/>
              </a:buClr>
              <a:buSzPts val="1100"/>
              <a:buFont typeface="Arial"/>
              <a:buNone/>
            </a:pPr>
            <a:r>
              <a:rPr b="0" i="0" lang="en-US" sz="1200" u="none" cap="none" strike="noStrike">
                <a:solidFill>
                  <a:srgbClr val="1A1A1A"/>
                </a:solidFill>
                <a:latin typeface="Arial"/>
                <a:ea typeface="Arial"/>
                <a:cs typeface="Arial"/>
                <a:sym typeface="Arial"/>
              </a:rPr>
              <a:t>ILO standard, 7-day recall</a:t>
            </a:r>
            <a:endParaRPr b="0" i="0" sz="1200" u="none" cap="none" strike="noStrike">
              <a:solidFill>
                <a:srgbClr val="000000"/>
              </a:solidFill>
              <a:latin typeface="Calibri"/>
              <a:ea typeface="Calibri"/>
              <a:cs typeface="Calibri"/>
              <a:sym typeface="Calibri"/>
            </a:endParaRPr>
          </a:p>
        </p:txBody>
      </p:sp>
      <p:sp>
        <p:nvSpPr>
          <p:cNvPr id="237" name="Google Shape;237;p22"/>
          <p:cNvSpPr/>
          <p:nvPr/>
        </p:nvSpPr>
        <p:spPr>
          <a:xfrm>
            <a:off x="4976579" y="4433618"/>
            <a:ext cx="3309900" cy="1188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2"/>
          <p:cNvSpPr/>
          <p:nvPr/>
        </p:nvSpPr>
        <p:spPr>
          <a:xfrm>
            <a:off x="5130588" y="4479348"/>
            <a:ext cx="3474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400"/>
              <a:buFont typeface="Arial"/>
              <a:buNone/>
            </a:pPr>
            <a:r>
              <a:rPr b="1" i="0" lang="en-US" sz="1400" u="none" cap="none" strike="noStrike">
                <a:solidFill>
                  <a:srgbClr val="041E42"/>
                </a:solidFill>
                <a:latin typeface="Arial"/>
                <a:ea typeface="Arial"/>
                <a:cs typeface="Arial"/>
                <a:sym typeface="Arial"/>
              </a:rPr>
              <a:t>% Women in Agriculture</a:t>
            </a:r>
            <a:endParaRPr b="0" i="0" sz="1400" u="none" cap="none" strike="noStrike">
              <a:solidFill>
                <a:srgbClr val="000000"/>
              </a:solidFill>
              <a:latin typeface="Calibri"/>
              <a:ea typeface="Calibri"/>
              <a:cs typeface="Calibri"/>
              <a:sym typeface="Calibri"/>
            </a:endParaRPr>
          </a:p>
        </p:txBody>
      </p:sp>
      <p:sp>
        <p:nvSpPr>
          <p:cNvPr id="239" name="Google Shape;239;p22"/>
          <p:cNvSpPr/>
          <p:nvPr/>
        </p:nvSpPr>
        <p:spPr>
          <a:xfrm>
            <a:off x="5130588" y="4799388"/>
            <a:ext cx="3474600" cy="7773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A1A1A"/>
              </a:buClr>
              <a:buSzPts val="1100"/>
              <a:buFont typeface="Arial"/>
              <a:buNone/>
            </a:pPr>
            <a:r>
              <a:rPr b="0" i="0" lang="en-US" sz="1200" u="none" cap="none" strike="noStrike">
                <a:solidFill>
                  <a:srgbClr val="1A1A1A"/>
                </a:solidFill>
                <a:latin typeface="Arial"/>
                <a:ea typeface="Arial"/>
                <a:cs typeface="Arial"/>
                <a:sym typeface="Arial"/>
              </a:rPr>
              <a:t>Women who worked on farm last season</a:t>
            </a:r>
            <a:endParaRPr b="0" i="0" sz="1200" u="none" cap="none" strike="noStrike">
              <a:solidFill>
                <a:srgbClr val="000000"/>
              </a:solidFill>
              <a:latin typeface="Calibri"/>
              <a:ea typeface="Calibri"/>
              <a:cs typeface="Calibri"/>
              <a:sym typeface="Calibri"/>
            </a:endParaRPr>
          </a:p>
          <a:p>
            <a:pPr indent="0" lvl="0" marL="0" marR="0" rtl="0" algn="l">
              <a:lnSpc>
                <a:spcPct val="120000"/>
              </a:lnSpc>
              <a:spcBef>
                <a:spcPts val="0"/>
              </a:spcBef>
              <a:spcAft>
                <a:spcPts val="0"/>
              </a:spcAft>
              <a:buClr>
                <a:srgbClr val="1A1A1A"/>
              </a:buClr>
              <a:buSzPts val="1100"/>
              <a:buFont typeface="Arial"/>
              <a:buNone/>
            </a:pPr>
            <a:r>
              <a:rPr b="0" i="0" lang="en-US" sz="1200" u="none" cap="none" strike="noStrike">
                <a:solidFill>
                  <a:srgbClr val="1A1A1A"/>
                </a:solidFill>
                <a:latin typeface="Arial"/>
                <a:ea typeface="Arial"/>
                <a:cs typeface="Arial"/>
                <a:sym typeface="Arial"/>
              </a:rPr>
              <a:t>÷ total adult women in household (B2b)</a:t>
            </a:r>
            <a:r>
              <a:rPr lang="en-US" sz="1200">
                <a:solidFill>
                  <a:srgbClr val="000000"/>
                </a:solidFill>
                <a:latin typeface="Calibri"/>
                <a:ea typeface="Calibri"/>
                <a:cs typeface="Calibri"/>
                <a:sym typeface="Calibri"/>
              </a:rPr>
              <a:t> </a:t>
            </a:r>
            <a:r>
              <a:rPr b="0" i="0" lang="en-US" sz="1200" u="none" cap="none" strike="noStrike">
                <a:solidFill>
                  <a:srgbClr val="1A1A1A"/>
                </a:solidFill>
                <a:latin typeface="Arial"/>
                <a:ea typeface="Arial"/>
                <a:cs typeface="Arial"/>
                <a:sym typeface="Arial"/>
              </a:rPr>
              <a:t>× 100</a:t>
            </a:r>
            <a:endParaRPr b="0" i="0" sz="1200" u="none" cap="none" strike="noStrike">
              <a:solidFill>
                <a:srgbClr val="000000"/>
              </a:solidFill>
              <a:latin typeface="Calibri"/>
              <a:ea typeface="Calibri"/>
              <a:cs typeface="Calibri"/>
              <a:sym typeface="Calibri"/>
            </a:endParaRPr>
          </a:p>
          <a:p>
            <a:pPr indent="0" lvl="0" marL="0" marR="0" rtl="0" algn="l">
              <a:lnSpc>
                <a:spcPct val="120000"/>
              </a:lnSpc>
              <a:spcBef>
                <a:spcPts val="0"/>
              </a:spcBef>
              <a:spcAft>
                <a:spcPts val="0"/>
              </a:spcAft>
              <a:buClr>
                <a:srgbClr val="1A1A1A"/>
              </a:buClr>
              <a:buSzPts val="1100"/>
              <a:buFont typeface="Arial"/>
              <a:buNone/>
            </a:pPr>
            <a:r>
              <a:rPr b="0" i="0" lang="en-US" sz="1200" u="none" cap="none" strike="noStrike">
                <a:solidFill>
                  <a:srgbClr val="1A1A1A"/>
                </a:solidFill>
                <a:latin typeface="Arial"/>
                <a:ea typeface="Arial"/>
                <a:cs typeface="Arial"/>
                <a:sym typeface="Arial"/>
              </a:rPr>
              <a:t>Full-season recall</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3"/>
          <p:cNvSpPr txBox="1"/>
          <p:nvPr>
            <p:ph type="title"/>
          </p:nvPr>
        </p:nvSpPr>
        <p:spPr>
          <a:xfrm>
            <a:off x="228751" y="630921"/>
            <a:ext cx="8686500" cy="580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D50"/>
              </a:buClr>
              <a:buSzPts val="2700"/>
              <a:buFont typeface="Helvetica Neue"/>
              <a:buNone/>
            </a:pPr>
            <a:r>
              <a:rPr lang="en-US"/>
              <a:t>Baseline &amp; Power Analysis</a:t>
            </a:r>
            <a:endParaRPr/>
          </a:p>
        </p:txBody>
      </p:sp>
      <p:sp>
        <p:nvSpPr>
          <p:cNvPr id="246" name="Google Shape;246;p23"/>
          <p:cNvSpPr txBox="1"/>
          <p:nvPr/>
        </p:nvSpPr>
        <p:spPr>
          <a:xfrm>
            <a:off x="4683208" y="21526184"/>
            <a:ext cx="43761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i="0" lang="en-US" sz="1500" u="none" cap="none" strike="noStrike">
                <a:solidFill>
                  <a:schemeClr val="dk1"/>
                </a:solidFill>
                <a:latin typeface="Helvetica Neue"/>
                <a:ea typeface="Helvetica Neue"/>
                <a:cs typeface="Helvetica Neue"/>
                <a:sym typeface="Helvetica Neue"/>
              </a:rPr>
              <a:t>Bulleted Text Style Title—</a:t>
            </a:r>
            <a:br>
              <a:rPr b="1" i="0" lang="en-US" sz="1500" u="none" cap="none" strike="noStrike">
                <a:solidFill>
                  <a:schemeClr val="dk1"/>
                </a:solidFill>
                <a:latin typeface="Helvetica Neue"/>
                <a:ea typeface="Helvetica Neue"/>
                <a:cs typeface="Helvetica Neue"/>
                <a:sym typeface="Helvetica Neue"/>
              </a:rPr>
            </a:br>
            <a:r>
              <a:rPr b="1" i="0" lang="en-US" sz="1500" u="none" cap="none" strike="noStrike">
                <a:solidFill>
                  <a:schemeClr val="dk1"/>
                </a:solidFill>
                <a:latin typeface="Helvetica Neue"/>
                <a:ea typeface="Helvetica Neue"/>
                <a:cs typeface="Helvetica Neue"/>
                <a:sym typeface="Helvetica Neue"/>
              </a:rPr>
              <a:t>Helvetica Neue 20pt Bold</a:t>
            </a:r>
            <a:endParaRPr/>
          </a:p>
        </p:txBody>
      </p:sp>
      <p:sp>
        <p:nvSpPr>
          <p:cNvPr id="247" name="Google Shape;247;p23"/>
          <p:cNvSpPr/>
          <p:nvPr/>
        </p:nvSpPr>
        <p:spPr>
          <a:xfrm>
            <a:off x="322303" y="1467668"/>
            <a:ext cx="8046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900"/>
              <a:buFont typeface="Arial"/>
              <a:buNone/>
            </a:pPr>
            <a:r>
              <a:rPr b="0" i="0" lang="en-US" sz="1200" u="none" cap="none" strike="noStrike">
                <a:solidFill>
                  <a:srgbClr val="6B7B8D"/>
                </a:solidFill>
                <a:latin typeface="Arial"/>
                <a:ea typeface="Arial"/>
                <a:cs typeface="Arial"/>
                <a:sym typeface="Arial"/>
              </a:rPr>
              <a:t>From GHS 2018-19  |  N = 5,394  |  304 EAs  |  Rural adult women, age 15+</a:t>
            </a:r>
            <a:endParaRPr b="0" i="0" sz="1200" u="none" cap="none" strike="noStrike">
              <a:solidFill>
                <a:srgbClr val="000000"/>
              </a:solidFill>
              <a:latin typeface="Calibri"/>
              <a:ea typeface="Calibri"/>
              <a:cs typeface="Calibri"/>
              <a:sym typeface="Calibri"/>
            </a:endParaRPr>
          </a:p>
        </p:txBody>
      </p:sp>
      <p:sp>
        <p:nvSpPr>
          <p:cNvPr id="248" name="Google Shape;248;p23"/>
          <p:cNvSpPr/>
          <p:nvPr/>
        </p:nvSpPr>
        <p:spPr>
          <a:xfrm>
            <a:off x="322302" y="1787708"/>
            <a:ext cx="2606100" cy="109740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49" name="Google Shape;249;p23"/>
          <p:cNvSpPr/>
          <p:nvPr/>
        </p:nvSpPr>
        <p:spPr>
          <a:xfrm>
            <a:off x="322302" y="1815140"/>
            <a:ext cx="26061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1E42"/>
              </a:buClr>
              <a:buSzPts val="2400"/>
              <a:buFont typeface="Arial"/>
              <a:buNone/>
            </a:pPr>
            <a:r>
              <a:rPr b="1" i="0" lang="en-US" sz="2600" u="none" cap="none" strike="noStrike">
                <a:solidFill>
                  <a:srgbClr val="041E42"/>
                </a:solidFill>
                <a:latin typeface="Arial"/>
                <a:ea typeface="Arial"/>
                <a:cs typeface="Arial"/>
                <a:sym typeface="Arial"/>
              </a:rPr>
              <a:t>32.8%</a:t>
            </a:r>
            <a:endParaRPr b="0" i="0" sz="2600" u="none" cap="none" strike="noStrike">
              <a:solidFill>
                <a:srgbClr val="000000"/>
              </a:solidFill>
              <a:latin typeface="Calibri"/>
              <a:ea typeface="Calibri"/>
              <a:cs typeface="Calibri"/>
              <a:sym typeface="Calibri"/>
            </a:endParaRPr>
          </a:p>
        </p:txBody>
      </p:sp>
      <p:sp>
        <p:nvSpPr>
          <p:cNvPr id="250" name="Google Shape;250;p23"/>
          <p:cNvSpPr/>
          <p:nvPr/>
        </p:nvSpPr>
        <p:spPr>
          <a:xfrm>
            <a:off x="322302" y="2263196"/>
            <a:ext cx="26061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1E42"/>
              </a:buClr>
              <a:buSzPts val="1100"/>
              <a:buFont typeface="Arial"/>
              <a:buNone/>
            </a:pPr>
            <a:r>
              <a:rPr b="1" i="0" lang="en-US" sz="1300" u="none" cap="none" strike="noStrike">
                <a:solidFill>
                  <a:srgbClr val="041E42"/>
                </a:solidFill>
                <a:latin typeface="Arial"/>
                <a:ea typeface="Arial"/>
                <a:cs typeface="Arial"/>
                <a:sym typeface="Arial"/>
              </a:rPr>
              <a:t>Participation</a:t>
            </a:r>
            <a:endParaRPr b="0" i="0" sz="1300" u="none" cap="none" strike="noStrike">
              <a:solidFill>
                <a:srgbClr val="000000"/>
              </a:solidFill>
              <a:latin typeface="Calibri"/>
              <a:ea typeface="Calibri"/>
              <a:cs typeface="Calibri"/>
              <a:sym typeface="Calibri"/>
            </a:endParaRPr>
          </a:p>
        </p:txBody>
      </p:sp>
      <p:sp>
        <p:nvSpPr>
          <p:cNvPr id="251" name="Google Shape;251;p23"/>
          <p:cNvSpPr/>
          <p:nvPr/>
        </p:nvSpPr>
        <p:spPr>
          <a:xfrm>
            <a:off x="322302" y="2500940"/>
            <a:ext cx="26061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B8D"/>
              </a:buClr>
              <a:buSzPts val="900"/>
              <a:buFont typeface="Arial"/>
              <a:buNone/>
            </a:pPr>
            <a:r>
              <a:rPr b="0" i="0" lang="en-US" sz="1100" u="none" cap="none" strike="noStrike">
                <a:solidFill>
                  <a:srgbClr val="6B7B8D"/>
                </a:solidFill>
                <a:latin typeface="Arial"/>
                <a:ea typeface="Arial"/>
                <a:cs typeface="Arial"/>
                <a:sym typeface="Arial"/>
              </a:rPr>
              <a:t>past 7 days</a:t>
            </a:r>
            <a:endParaRPr b="0" i="0" sz="1100" u="none" cap="none" strike="noStrike">
              <a:solidFill>
                <a:srgbClr val="000000"/>
              </a:solidFill>
              <a:latin typeface="Calibri"/>
              <a:ea typeface="Calibri"/>
              <a:cs typeface="Calibri"/>
              <a:sym typeface="Calibri"/>
            </a:endParaRPr>
          </a:p>
        </p:txBody>
      </p:sp>
      <p:sp>
        <p:nvSpPr>
          <p:cNvPr id="252" name="Google Shape;252;p23"/>
          <p:cNvSpPr/>
          <p:nvPr/>
        </p:nvSpPr>
        <p:spPr>
          <a:xfrm>
            <a:off x="3156943" y="1787708"/>
            <a:ext cx="2606100" cy="1097400"/>
          </a:xfrm>
          <a:prstGeom prst="rect">
            <a:avLst/>
          </a:prstGeom>
          <a:solidFill>
            <a:srgbClr val="041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53" name="Google Shape;253;p23"/>
          <p:cNvSpPr/>
          <p:nvPr/>
        </p:nvSpPr>
        <p:spPr>
          <a:xfrm>
            <a:off x="3156943" y="1815140"/>
            <a:ext cx="26061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i="0" lang="en-US" sz="2600" u="none" cap="none" strike="noStrike">
                <a:solidFill>
                  <a:srgbClr val="FFFFFF"/>
                </a:solidFill>
                <a:latin typeface="Arial"/>
                <a:ea typeface="Arial"/>
                <a:cs typeface="Arial"/>
                <a:sym typeface="Arial"/>
              </a:rPr>
              <a:t>0.228</a:t>
            </a:r>
            <a:endParaRPr b="0" i="0" sz="2600" u="none" cap="none" strike="noStrike">
              <a:solidFill>
                <a:srgbClr val="000000"/>
              </a:solidFill>
              <a:latin typeface="Calibri"/>
              <a:ea typeface="Calibri"/>
              <a:cs typeface="Calibri"/>
              <a:sym typeface="Calibri"/>
            </a:endParaRPr>
          </a:p>
        </p:txBody>
      </p:sp>
      <p:sp>
        <p:nvSpPr>
          <p:cNvPr id="254" name="Google Shape;254;p23"/>
          <p:cNvSpPr/>
          <p:nvPr/>
        </p:nvSpPr>
        <p:spPr>
          <a:xfrm>
            <a:off x="3156943" y="2263196"/>
            <a:ext cx="26061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90D9"/>
              </a:buClr>
              <a:buSzPts val="1100"/>
              <a:buFont typeface="Arial"/>
              <a:buNone/>
            </a:pPr>
            <a:r>
              <a:rPr b="1" i="0" lang="en-US" sz="1300" u="none" cap="none" strike="noStrike">
                <a:solidFill>
                  <a:srgbClr val="4A90D9"/>
                </a:solidFill>
                <a:latin typeface="Arial"/>
                <a:ea typeface="Arial"/>
                <a:cs typeface="Arial"/>
                <a:sym typeface="Arial"/>
              </a:rPr>
              <a:t>ICC</a:t>
            </a:r>
            <a:endParaRPr b="0" i="0" sz="1300" u="none" cap="none" strike="noStrike">
              <a:solidFill>
                <a:srgbClr val="000000"/>
              </a:solidFill>
              <a:latin typeface="Calibri"/>
              <a:ea typeface="Calibri"/>
              <a:cs typeface="Calibri"/>
              <a:sym typeface="Calibri"/>
            </a:endParaRPr>
          </a:p>
        </p:txBody>
      </p:sp>
      <p:sp>
        <p:nvSpPr>
          <p:cNvPr id="255" name="Google Shape;255;p23"/>
          <p:cNvSpPr/>
          <p:nvPr/>
        </p:nvSpPr>
        <p:spPr>
          <a:xfrm>
            <a:off x="3156943" y="2500940"/>
            <a:ext cx="26061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0C4DE"/>
              </a:buClr>
              <a:buSzPts val="900"/>
              <a:buFont typeface="Arial"/>
              <a:buNone/>
            </a:pPr>
            <a:r>
              <a:rPr b="0" i="0" lang="en-US" sz="1100" u="none" cap="none" strike="noStrike">
                <a:solidFill>
                  <a:srgbClr val="B0C4DE"/>
                </a:solidFill>
                <a:latin typeface="Arial"/>
                <a:ea typeface="Arial"/>
                <a:cs typeface="Arial"/>
                <a:sym typeface="Arial"/>
              </a:rPr>
              <a:t>2x literature avg</a:t>
            </a:r>
            <a:endParaRPr b="0" i="0" sz="1100" u="none" cap="none" strike="noStrike">
              <a:solidFill>
                <a:srgbClr val="000000"/>
              </a:solidFill>
              <a:latin typeface="Calibri"/>
              <a:ea typeface="Calibri"/>
              <a:cs typeface="Calibri"/>
              <a:sym typeface="Calibri"/>
            </a:endParaRPr>
          </a:p>
        </p:txBody>
      </p:sp>
      <p:sp>
        <p:nvSpPr>
          <p:cNvPr id="256" name="Google Shape;256;p23"/>
          <p:cNvSpPr/>
          <p:nvPr/>
        </p:nvSpPr>
        <p:spPr>
          <a:xfrm>
            <a:off x="5991583" y="1787708"/>
            <a:ext cx="2606100" cy="109740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57" name="Google Shape;257;p23"/>
          <p:cNvSpPr/>
          <p:nvPr/>
        </p:nvSpPr>
        <p:spPr>
          <a:xfrm>
            <a:off x="5991583" y="1815140"/>
            <a:ext cx="26061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1E42"/>
              </a:buClr>
              <a:buSzPts val="2400"/>
              <a:buFont typeface="Arial"/>
              <a:buNone/>
            </a:pPr>
            <a:r>
              <a:rPr b="1" i="0" lang="en-US" sz="2600" u="none" cap="none" strike="noStrike">
                <a:solidFill>
                  <a:srgbClr val="041E42"/>
                </a:solidFill>
                <a:latin typeface="Arial"/>
                <a:ea typeface="Arial"/>
                <a:cs typeface="Arial"/>
                <a:sym typeface="Arial"/>
              </a:rPr>
              <a:t>45.8 vs 25.1%</a:t>
            </a:r>
            <a:endParaRPr b="0" i="0" sz="2600" u="none" cap="none" strike="noStrike">
              <a:solidFill>
                <a:srgbClr val="000000"/>
              </a:solidFill>
              <a:latin typeface="Calibri"/>
              <a:ea typeface="Calibri"/>
              <a:cs typeface="Calibri"/>
              <a:sym typeface="Calibri"/>
            </a:endParaRPr>
          </a:p>
        </p:txBody>
      </p:sp>
      <p:sp>
        <p:nvSpPr>
          <p:cNvPr id="258" name="Google Shape;258;p23"/>
          <p:cNvSpPr/>
          <p:nvPr/>
        </p:nvSpPr>
        <p:spPr>
          <a:xfrm>
            <a:off x="5991583" y="2263196"/>
            <a:ext cx="26061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1E42"/>
              </a:buClr>
              <a:buSzPts val="1100"/>
              <a:buFont typeface="Arial"/>
              <a:buNone/>
            </a:pPr>
            <a:r>
              <a:rPr b="1" i="0" lang="en-US" sz="1300" u="none" cap="none" strike="noStrike">
                <a:solidFill>
                  <a:srgbClr val="041E42"/>
                </a:solidFill>
                <a:latin typeface="Arial"/>
                <a:ea typeface="Arial"/>
                <a:cs typeface="Arial"/>
                <a:sym typeface="Arial"/>
              </a:rPr>
              <a:t>South vs North</a:t>
            </a:r>
            <a:endParaRPr b="0" i="0" sz="1300" u="none" cap="none" strike="noStrike">
              <a:solidFill>
                <a:srgbClr val="000000"/>
              </a:solidFill>
              <a:latin typeface="Calibri"/>
              <a:ea typeface="Calibri"/>
              <a:cs typeface="Calibri"/>
              <a:sym typeface="Calibri"/>
            </a:endParaRPr>
          </a:p>
        </p:txBody>
      </p:sp>
      <p:sp>
        <p:nvSpPr>
          <p:cNvPr id="259" name="Google Shape;259;p23"/>
          <p:cNvSpPr/>
          <p:nvPr/>
        </p:nvSpPr>
        <p:spPr>
          <a:xfrm>
            <a:off x="5991583" y="2500940"/>
            <a:ext cx="26061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B8D"/>
              </a:buClr>
              <a:buSzPts val="900"/>
              <a:buFont typeface="Arial"/>
              <a:buNone/>
            </a:pPr>
            <a:r>
              <a:rPr b="0" i="0" lang="en-US" sz="1100" u="none" cap="none" strike="noStrike">
                <a:solidFill>
                  <a:srgbClr val="6B7B8D"/>
                </a:solidFill>
                <a:latin typeface="Arial"/>
                <a:ea typeface="Arial"/>
                <a:cs typeface="Arial"/>
                <a:sym typeface="Arial"/>
              </a:rPr>
              <a:t>20.7pp gap</a:t>
            </a:r>
            <a:endParaRPr b="0" i="0" sz="1100" u="none" cap="none" strike="noStrike">
              <a:solidFill>
                <a:srgbClr val="000000"/>
              </a:solidFill>
              <a:latin typeface="Calibri"/>
              <a:ea typeface="Calibri"/>
              <a:cs typeface="Calibri"/>
              <a:sym typeface="Calibri"/>
            </a:endParaRPr>
          </a:p>
        </p:txBody>
      </p:sp>
      <p:sp>
        <p:nvSpPr>
          <p:cNvPr id="260" name="Google Shape;260;p23"/>
          <p:cNvSpPr/>
          <p:nvPr/>
        </p:nvSpPr>
        <p:spPr>
          <a:xfrm>
            <a:off x="548690" y="3187060"/>
            <a:ext cx="8046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900"/>
              <a:buFont typeface="Arial"/>
              <a:buNone/>
            </a:pPr>
            <a:r>
              <a:rPr b="0" i="0" lang="en-US" sz="1200" u="none" cap="none" strike="noStrike">
                <a:solidFill>
                  <a:srgbClr val="6B7B8D"/>
                </a:solidFill>
                <a:latin typeface="Arial"/>
                <a:ea typeface="Arial"/>
                <a:cs typeface="Arial"/>
                <a:sym typeface="Arial"/>
              </a:rPr>
              <a:t>Simulation: 1,000 replications, clustered SEs</a:t>
            </a:r>
            <a:endParaRPr b="0" i="0" sz="1200" u="none" cap="none" strike="noStrike">
              <a:solidFill>
                <a:srgbClr val="000000"/>
              </a:solidFill>
              <a:latin typeface="Calibri"/>
              <a:ea typeface="Calibri"/>
              <a:cs typeface="Calibri"/>
              <a:sym typeface="Calibri"/>
            </a:endParaRPr>
          </a:p>
        </p:txBody>
      </p:sp>
      <p:graphicFrame>
        <p:nvGraphicFramePr>
          <p:cNvPr id="261" name="Google Shape;261;p23"/>
          <p:cNvGraphicFramePr/>
          <p:nvPr/>
        </p:nvGraphicFramePr>
        <p:xfrm>
          <a:off x="548690" y="3461380"/>
          <a:ext cx="3000000" cy="3000000"/>
        </p:xfrm>
        <a:graphic>
          <a:graphicData uri="http://schemas.openxmlformats.org/drawingml/2006/table">
            <a:tbl>
              <a:tblPr>
                <a:noFill/>
                <a:tableStyleId>{A55CFAD2-E7B2-4F91-BE40-FC5B2C1AB688}</a:tableStyleId>
              </a:tblPr>
              <a:tblGrid>
                <a:gridCol w="1005850"/>
                <a:gridCol w="1097275"/>
                <a:gridCol w="1188725"/>
                <a:gridCol w="1554475"/>
                <a:gridCol w="1554475"/>
                <a:gridCol w="1554475"/>
              </a:tblGrid>
              <a:tr h="365750">
                <a:tc>
                  <a:txBody>
                    <a:bodyPr/>
                    <a:lstStyle/>
                    <a:p>
                      <a:pPr indent="0" lvl="0" marL="0" marR="0" rtl="0" algn="ctr">
                        <a:spcBef>
                          <a:spcPts val="0"/>
                        </a:spcBef>
                        <a:spcAft>
                          <a:spcPts val="0"/>
                        </a:spcAft>
                        <a:buClr>
                          <a:srgbClr val="FFFFFF"/>
                        </a:buClr>
                        <a:buSzPts val="900"/>
                        <a:buFont typeface="Calibri"/>
                        <a:buNone/>
                      </a:pPr>
                      <a:r>
                        <a:rPr b="1" lang="en-US" sz="1100" u="none" cap="none" strike="noStrike">
                          <a:solidFill>
                            <a:srgbClr val="FFFFFF"/>
                          </a:solidFill>
                        </a:rPr>
                        <a:t>J/arm</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41E42"/>
                    </a:solidFill>
                  </a:tcPr>
                </a:tc>
                <a:tc>
                  <a:txBody>
                    <a:bodyPr/>
                    <a:lstStyle/>
                    <a:p>
                      <a:pPr indent="0" lvl="0" marL="0" marR="0" rtl="0" algn="ctr">
                        <a:spcBef>
                          <a:spcPts val="0"/>
                        </a:spcBef>
                        <a:spcAft>
                          <a:spcPts val="0"/>
                        </a:spcAft>
                        <a:buClr>
                          <a:srgbClr val="FFFFFF"/>
                        </a:buClr>
                        <a:buSzPts val="900"/>
                        <a:buFont typeface="Calibri"/>
                        <a:buNone/>
                      </a:pPr>
                      <a:r>
                        <a:rPr b="1" lang="en-US" sz="1100" u="none" cap="none" strike="noStrike">
                          <a:solidFill>
                            <a:srgbClr val="FFFFFF"/>
                          </a:solidFill>
                        </a:rPr>
                        <a:t>Villages</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41E42"/>
                    </a:solidFill>
                  </a:tcPr>
                </a:tc>
                <a:tc>
                  <a:txBody>
                    <a:bodyPr/>
                    <a:lstStyle/>
                    <a:p>
                      <a:pPr indent="0" lvl="0" marL="0" marR="0" rtl="0" algn="ctr">
                        <a:spcBef>
                          <a:spcPts val="0"/>
                        </a:spcBef>
                        <a:spcAft>
                          <a:spcPts val="0"/>
                        </a:spcAft>
                        <a:buClr>
                          <a:srgbClr val="FFFFFF"/>
                        </a:buClr>
                        <a:buSzPts val="900"/>
                        <a:buFont typeface="Calibri"/>
                        <a:buNone/>
                      </a:pPr>
                      <a:r>
                        <a:rPr b="1" lang="en-US" sz="1100" u="none" cap="none" strike="noStrike">
                          <a:solidFill>
                            <a:srgbClr val="FFFFFF"/>
                          </a:solidFill>
                        </a:rPr>
                        <a:t>HHs</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41E42"/>
                    </a:solidFill>
                  </a:tcPr>
                </a:tc>
                <a:tc>
                  <a:txBody>
                    <a:bodyPr/>
                    <a:lstStyle/>
                    <a:p>
                      <a:pPr indent="0" lvl="0" marL="0" marR="0" rtl="0" algn="ctr">
                        <a:spcBef>
                          <a:spcPts val="0"/>
                        </a:spcBef>
                        <a:spcAft>
                          <a:spcPts val="0"/>
                        </a:spcAft>
                        <a:buClr>
                          <a:srgbClr val="FFFFFF"/>
                        </a:buClr>
                        <a:buSzPts val="900"/>
                        <a:buFont typeface="Calibri"/>
                        <a:buNone/>
                      </a:pPr>
                      <a:r>
                        <a:rPr b="1" lang="en-US" sz="1100" u="none" cap="none" strike="noStrike">
                          <a:solidFill>
                            <a:srgbClr val="FFFFFF"/>
                          </a:solidFill>
                        </a:rPr>
                        <a:t>T1 vs C</a:t>
                      </a:r>
                      <a:endParaRPr sz="1100" u="none" cap="none" strike="noStrike"/>
                    </a:p>
                    <a:p>
                      <a:pPr indent="0" lvl="0" marL="0" marR="0" rtl="0" algn="ctr">
                        <a:spcBef>
                          <a:spcPts val="0"/>
                        </a:spcBef>
                        <a:spcAft>
                          <a:spcPts val="0"/>
                        </a:spcAft>
                        <a:buClr>
                          <a:srgbClr val="FFFFFF"/>
                        </a:buClr>
                        <a:buSzPts val="900"/>
                        <a:buFont typeface="Calibri"/>
                        <a:buNone/>
                      </a:pPr>
                      <a:r>
                        <a:rPr b="1" lang="en-US" sz="1100" u="none" cap="none" strike="noStrike">
                          <a:solidFill>
                            <a:srgbClr val="FFFFFF"/>
                          </a:solidFill>
                        </a:rPr>
                        <a:t>(10pp)</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41E42"/>
                    </a:solidFill>
                  </a:tcPr>
                </a:tc>
                <a:tc>
                  <a:txBody>
                    <a:bodyPr/>
                    <a:lstStyle/>
                    <a:p>
                      <a:pPr indent="0" lvl="0" marL="0" marR="0" rtl="0" algn="ctr">
                        <a:spcBef>
                          <a:spcPts val="0"/>
                        </a:spcBef>
                        <a:spcAft>
                          <a:spcPts val="0"/>
                        </a:spcAft>
                        <a:buClr>
                          <a:srgbClr val="FFFFFF"/>
                        </a:buClr>
                        <a:buSzPts val="900"/>
                        <a:buFont typeface="Calibri"/>
                        <a:buNone/>
                      </a:pPr>
                      <a:r>
                        <a:rPr b="1" lang="en-US" sz="1100" u="none" cap="none" strike="noStrike">
                          <a:solidFill>
                            <a:srgbClr val="FFFFFF"/>
                          </a:solidFill>
                        </a:rPr>
                        <a:t>T2 vs C</a:t>
                      </a:r>
                      <a:endParaRPr sz="1100" u="none" cap="none" strike="noStrike"/>
                    </a:p>
                    <a:p>
                      <a:pPr indent="0" lvl="0" marL="0" marR="0" rtl="0" algn="ctr">
                        <a:spcBef>
                          <a:spcPts val="0"/>
                        </a:spcBef>
                        <a:spcAft>
                          <a:spcPts val="0"/>
                        </a:spcAft>
                        <a:buClr>
                          <a:srgbClr val="FFFFFF"/>
                        </a:buClr>
                        <a:buSzPts val="900"/>
                        <a:buFont typeface="Calibri"/>
                        <a:buNone/>
                      </a:pPr>
                      <a:r>
                        <a:rPr b="1" lang="en-US" sz="1100" u="none" cap="none" strike="noStrike">
                          <a:solidFill>
                            <a:srgbClr val="FFFFFF"/>
                          </a:solidFill>
                        </a:rPr>
                        <a:t>(15pp)</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41E42"/>
                    </a:solidFill>
                  </a:tcPr>
                </a:tc>
                <a:tc>
                  <a:txBody>
                    <a:bodyPr/>
                    <a:lstStyle/>
                    <a:p>
                      <a:pPr indent="0" lvl="0" marL="0" marR="0" rtl="0" algn="ctr">
                        <a:spcBef>
                          <a:spcPts val="0"/>
                        </a:spcBef>
                        <a:spcAft>
                          <a:spcPts val="0"/>
                        </a:spcAft>
                        <a:buClr>
                          <a:srgbClr val="FFFFFF"/>
                        </a:buClr>
                        <a:buSzPts val="900"/>
                        <a:buFont typeface="Calibri"/>
                        <a:buNone/>
                      </a:pPr>
                      <a:r>
                        <a:rPr b="1" lang="en-US" sz="1100" u="none" cap="none" strike="noStrike">
                          <a:solidFill>
                            <a:srgbClr val="FFFFFF"/>
                          </a:solidFill>
                        </a:rPr>
                        <a:t>T2 vs T1</a:t>
                      </a:r>
                      <a:endParaRPr sz="1100" u="none" cap="none" strike="noStrike"/>
                    </a:p>
                    <a:p>
                      <a:pPr indent="0" lvl="0" marL="0" marR="0" rtl="0" algn="ctr">
                        <a:spcBef>
                          <a:spcPts val="0"/>
                        </a:spcBef>
                        <a:spcAft>
                          <a:spcPts val="0"/>
                        </a:spcAft>
                        <a:buClr>
                          <a:srgbClr val="FFFFFF"/>
                        </a:buClr>
                        <a:buSzPts val="900"/>
                        <a:buFont typeface="Calibri"/>
                        <a:buNone/>
                      </a:pPr>
                      <a:r>
                        <a:rPr b="1" lang="en-US" sz="1100" u="none" cap="none" strike="noStrike">
                          <a:solidFill>
                            <a:srgbClr val="FFFFFF"/>
                          </a:solidFill>
                        </a:rPr>
                        <a:t>(5pp)</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41E42"/>
                    </a:solidFill>
                  </a:tcPr>
                </a:tc>
              </a:tr>
              <a:tr h="256025">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15</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45</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900</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.245</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.433</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.091</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56025">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35</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105</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2,100</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.432</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.742</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.156</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92600">
                <a:tc>
                  <a:txBody>
                    <a:bodyPr/>
                    <a:lstStyle/>
                    <a:p>
                      <a:pPr indent="0" lvl="0" marL="0" marR="0" rtl="0" algn="ctr">
                        <a:spcBef>
                          <a:spcPts val="0"/>
                        </a:spcBef>
                        <a:spcAft>
                          <a:spcPts val="0"/>
                        </a:spcAft>
                        <a:buClr>
                          <a:srgbClr val="041E42"/>
                        </a:buClr>
                        <a:buSzPts val="900"/>
                        <a:buFont typeface="Calibri"/>
                        <a:buNone/>
                      </a:pPr>
                      <a:r>
                        <a:rPr b="1" lang="en-US" sz="1100" u="none" cap="none" strike="noStrike">
                          <a:solidFill>
                            <a:srgbClr val="041E42"/>
                          </a:solidFill>
                        </a:rPr>
                        <a:t>45</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4F0"/>
                    </a:solidFill>
                  </a:tcPr>
                </a:tc>
                <a:tc>
                  <a:txBody>
                    <a:bodyPr/>
                    <a:lstStyle/>
                    <a:p>
                      <a:pPr indent="0" lvl="0" marL="0" marR="0" rtl="0" algn="ctr">
                        <a:spcBef>
                          <a:spcPts val="0"/>
                        </a:spcBef>
                        <a:spcAft>
                          <a:spcPts val="0"/>
                        </a:spcAft>
                        <a:buClr>
                          <a:srgbClr val="041E42"/>
                        </a:buClr>
                        <a:buSzPts val="900"/>
                        <a:buFont typeface="Calibri"/>
                        <a:buNone/>
                      </a:pPr>
                      <a:r>
                        <a:rPr b="1" lang="en-US" sz="1100" u="none" cap="none" strike="noStrike">
                          <a:solidFill>
                            <a:srgbClr val="041E42"/>
                          </a:solidFill>
                        </a:rPr>
                        <a:t>135</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4F0"/>
                    </a:solidFill>
                  </a:tcPr>
                </a:tc>
                <a:tc>
                  <a:txBody>
                    <a:bodyPr/>
                    <a:lstStyle/>
                    <a:p>
                      <a:pPr indent="0" lvl="0" marL="0" marR="0" rtl="0" algn="ctr">
                        <a:spcBef>
                          <a:spcPts val="0"/>
                        </a:spcBef>
                        <a:spcAft>
                          <a:spcPts val="0"/>
                        </a:spcAft>
                        <a:buClr>
                          <a:srgbClr val="041E42"/>
                        </a:buClr>
                        <a:buSzPts val="900"/>
                        <a:buFont typeface="Calibri"/>
                        <a:buNone/>
                      </a:pPr>
                      <a:r>
                        <a:rPr b="1" lang="en-US" sz="1100" u="none" cap="none" strike="noStrike">
                          <a:solidFill>
                            <a:srgbClr val="041E42"/>
                          </a:solidFill>
                        </a:rPr>
                        <a:t>2,700</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4F0"/>
                    </a:solidFill>
                  </a:tcPr>
                </a:tc>
                <a:tc>
                  <a:txBody>
                    <a:bodyPr/>
                    <a:lstStyle/>
                    <a:p>
                      <a:pPr indent="0" lvl="0" marL="0" marR="0" rtl="0" algn="ctr">
                        <a:spcBef>
                          <a:spcPts val="0"/>
                        </a:spcBef>
                        <a:spcAft>
                          <a:spcPts val="0"/>
                        </a:spcAft>
                        <a:buClr>
                          <a:srgbClr val="041E42"/>
                        </a:buClr>
                        <a:buSzPts val="900"/>
                        <a:buFont typeface="Calibri"/>
                        <a:buNone/>
                      </a:pPr>
                      <a:r>
                        <a:rPr b="1" lang="en-US" sz="1100" u="none" cap="none" strike="noStrike">
                          <a:solidFill>
                            <a:srgbClr val="041E42"/>
                          </a:solidFill>
                        </a:rPr>
                        <a:t>.486</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4F0"/>
                    </a:solidFill>
                  </a:tcPr>
                </a:tc>
                <a:tc>
                  <a:txBody>
                    <a:bodyPr/>
                    <a:lstStyle/>
                    <a:p>
                      <a:pPr indent="0" lvl="0" marL="0" marR="0" rtl="0" algn="ctr">
                        <a:spcBef>
                          <a:spcPts val="0"/>
                        </a:spcBef>
                        <a:spcAft>
                          <a:spcPts val="0"/>
                        </a:spcAft>
                        <a:buClr>
                          <a:srgbClr val="041E42"/>
                        </a:buClr>
                        <a:buSzPts val="900"/>
                        <a:buFont typeface="Calibri"/>
                        <a:buNone/>
                      </a:pPr>
                      <a:r>
                        <a:rPr b="1" lang="en-US" sz="1100" u="none" cap="none" strike="noStrike">
                          <a:solidFill>
                            <a:srgbClr val="041E42"/>
                          </a:solidFill>
                        </a:rPr>
                        <a:t>.819</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4F0"/>
                    </a:solidFill>
                  </a:tcPr>
                </a:tc>
                <a:tc>
                  <a:txBody>
                    <a:bodyPr/>
                    <a:lstStyle/>
                    <a:p>
                      <a:pPr indent="0" lvl="0" marL="0" marR="0" rtl="0" algn="ctr">
                        <a:spcBef>
                          <a:spcPts val="0"/>
                        </a:spcBef>
                        <a:spcAft>
                          <a:spcPts val="0"/>
                        </a:spcAft>
                        <a:buClr>
                          <a:srgbClr val="041E42"/>
                        </a:buClr>
                        <a:buSzPts val="900"/>
                        <a:buFont typeface="Calibri"/>
                        <a:buNone/>
                      </a:pPr>
                      <a:r>
                        <a:rPr b="1" lang="en-US" sz="1100" u="none" cap="none" strike="noStrike">
                          <a:solidFill>
                            <a:srgbClr val="041E42"/>
                          </a:solidFill>
                        </a:rPr>
                        <a:t>.152</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4F0"/>
                    </a:solidFill>
                  </a:tcPr>
                </a:tc>
              </a:tr>
              <a:tr h="256025">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80</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240</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4,800</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.712</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.965</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.241</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56025">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100</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300</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6,000</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.827</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.992</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900"/>
                        <a:buFont typeface="Calibri"/>
                        <a:buNone/>
                      </a:pPr>
                      <a:r>
                        <a:rPr lang="en-US" sz="1100" u="none" cap="none" strike="noStrike">
                          <a:solidFill>
                            <a:srgbClr val="1A1A1A"/>
                          </a:solidFill>
                        </a:rPr>
                        <a:t>.292</a:t>
                      </a:r>
                      <a:endParaRPr sz="1100" u="none" cap="none" strike="noStrike"/>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262" name="Google Shape;262;p23"/>
          <p:cNvSpPr/>
          <p:nvPr/>
        </p:nvSpPr>
        <p:spPr>
          <a:xfrm>
            <a:off x="379550" y="5529975"/>
            <a:ext cx="8160900" cy="274200"/>
          </a:xfrm>
          <a:prstGeom prst="rect">
            <a:avLst/>
          </a:prstGeom>
          <a:solidFill>
            <a:srgbClr val="E8F0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3"/>
          <p:cNvSpPr/>
          <p:nvPr/>
        </p:nvSpPr>
        <p:spPr>
          <a:xfrm>
            <a:off x="400050" y="5529975"/>
            <a:ext cx="8343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000"/>
              <a:buFont typeface="Arial"/>
              <a:buNone/>
            </a:pPr>
            <a:r>
              <a:rPr b="1" i="0" lang="en-US" sz="1200" u="none" cap="none" strike="noStrike">
                <a:solidFill>
                  <a:srgbClr val="041E42"/>
                </a:solidFill>
                <a:latin typeface="Arial"/>
                <a:ea typeface="Arial"/>
                <a:cs typeface="Arial"/>
                <a:sym typeface="Arial"/>
              </a:rPr>
              <a:t>Recommended: 45 villages/arm (2,700 HHs). T2 vs C: 82% power. T1 vs C: underpowered. T2 vs T1: not feasible.</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4"/>
          <p:cNvSpPr txBox="1"/>
          <p:nvPr>
            <p:ph type="title"/>
          </p:nvPr>
        </p:nvSpPr>
        <p:spPr>
          <a:xfrm>
            <a:off x="265176" y="310896"/>
            <a:ext cx="8686500" cy="580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D50"/>
              </a:buClr>
              <a:buSzPts val="2700"/>
              <a:buFont typeface="Helvetica Neue"/>
              <a:buNone/>
            </a:pPr>
            <a:r>
              <a:rPr lang="en-US"/>
              <a:t>Sensitivity &amp; Robustness</a:t>
            </a:r>
            <a:endParaRPr/>
          </a:p>
        </p:txBody>
      </p:sp>
      <p:sp>
        <p:nvSpPr>
          <p:cNvPr id="270" name="Google Shape;270;p24"/>
          <p:cNvSpPr txBox="1"/>
          <p:nvPr/>
        </p:nvSpPr>
        <p:spPr>
          <a:xfrm>
            <a:off x="4683208" y="21526184"/>
            <a:ext cx="43761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i="0" lang="en-US" sz="1500" u="none" cap="none" strike="noStrike">
                <a:solidFill>
                  <a:schemeClr val="dk1"/>
                </a:solidFill>
                <a:latin typeface="Helvetica Neue"/>
                <a:ea typeface="Helvetica Neue"/>
                <a:cs typeface="Helvetica Neue"/>
                <a:sym typeface="Helvetica Neue"/>
              </a:rPr>
              <a:t>Bulleted Text Style Title—</a:t>
            </a:r>
            <a:br>
              <a:rPr b="1" i="0" lang="en-US" sz="1500" u="none" cap="none" strike="noStrike">
                <a:solidFill>
                  <a:schemeClr val="dk1"/>
                </a:solidFill>
                <a:latin typeface="Helvetica Neue"/>
                <a:ea typeface="Helvetica Neue"/>
                <a:cs typeface="Helvetica Neue"/>
                <a:sym typeface="Helvetica Neue"/>
              </a:rPr>
            </a:br>
            <a:r>
              <a:rPr b="1" i="0" lang="en-US" sz="1500" u="none" cap="none" strike="noStrike">
                <a:solidFill>
                  <a:schemeClr val="dk1"/>
                </a:solidFill>
                <a:latin typeface="Helvetica Neue"/>
                <a:ea typeface="Helvetica Neue"/>
                <a:cs typeface="Helvetica Neue"/>
                <a:sym typeface="Helvetica Neue"/>
              </a:rPr>
              <a:t>Helvetica Neue 20pt Bold</a:t>
            </a:r>
            <a:endParaRPr/>
          </a:p>
        </p:txBody>
      </p:sp>
      <p:sp>
        <p:nvSpPr>
          <p:cNvPr id="271" name="Google Shape;271;p24"/>
          <p:cNvSpPr/>
          <p:nvPr/>
        </p:nvSpPr>
        <p:spPr>
          <a:xfrm>
            <a:off x="548640" y="1645920"/>
            <a:ext cx="4114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400"/>
              <a:buFont typeface="Arial"/>
              <a:buNone/>
            </a:pPr>
            <a:r>
              <a:rPr b="1" i="0" lang="en-US" sz="1400" u="none" cap="none" strike="noStrike">
                <a:solidFill>
                  <a:srgbClr val="041E42"/>
                </a:solidFill>
                <a:latin typeface="Arial"/>
                <a:ea typeface="Arial"/>
                <a:cs typeface="Arial"/>
                <a:sym typeface="Arial"/>
              </a:rPr>
              <a:t>Power is highly sensitive to ICC (% at J=45)</a:t>
            </a:r>
            <a:endParaRPr b="0" i="0" sz="1400" u="none" cap="none" strike="noStrike">
              <a:solidFill>
                <a:srgbClr val="000000"/>
              </a:solidFill>
              <a:latin typeface="Calibri"/>
              <a:ea typeface="Calibri"/>
              <a:cs typeface="Calibri"/>
              <a:sym typeface="Calibri"/>
            </a:endParaRPr>
          </a:p>
        </p:txBody>
      </p:sp>
      <p:pic>
        <p:nvPicPr>
          <p:cNvPr id="272" name="Google Shape;272;p24"/>
          <p:cNvPicPr preferRelativeResize="0"/>
          <p:nvPr/>
        </p:nvPicPr>
        <p:blipFill rotWithShape="1">
          <a:blip r:embed="rId3">
            <a:alphaModFix/>
          </a:blip>
          <a:srcRect b="0" l="0" r="0" t="0"/>
          <a:stretch/>
        </p:blipFill>
        <p:spPr>
          <a:xfrm>
            <a:off x="0" y="2077550"/>
            <a:ext cx="5106300" cy="2962800"/>
          </a:xfrm>
          <a:prstGeom prst="rect">
            <a:avLst/>
          </a:prstGeom>
          <a:noFill/>
          <a:ln>
            <a:noFill/>
          </a:ln>
        </p:spPr>
      </p:pic>
      <p:sp>
        <p:nvSpPr>
          <p:cNvPr id="273" name="Google Shape;273;p24"/>
          <p:cNvSpPr/>
          <p:nvPr/>
        </p:nvSpPr>
        <p:spPr>
          <a:xfrm>
            <a:off x="5158501" y="1225301"/>
            <a:ext cx="3985500" cy="36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606"/>
              <a:buFont typeface="Arial"/>
              <a:buNone/>
            </a:pPr>
            <a:r>
              <a:rPr b="1" i="0" lang="en-US" sz="1800" u="none" cap="none" strike="noStrike">
                <a:solidFill>
                  <a:srgbClr val="041E42"/>
                </a:solidFill>
                <a:latin typeface="Arial"/>
                <a:ea typeface="Arial"/>
                <a:cs typeface="Arial"/>
                <a:sym typeface="Arial"/>
              </a:rPr>
              <a:t>Other findings</a:t>
            </a:r>
            <a:endParaRPr b="0" i="0" sz="1800" u="none" cap="none" strike="noStrike">
              <a:solidFill>
                <a:srgbClr val="000000"/>
              </a:solidFill>
              <a:latin typeface="Calibri"/>
              <a:ea typeface="Calibri"/>
              <a:cs typeface="Calibri"/>
              <a:sym typeface="Calibri"/>
            </a:endParaRPr>
          </a:p>
        </p:txBody>
      </p:sp>
      <p:sp>
        <p:nvSpPr>
          <p:cNvPr id="274" name="Google Shape;274;p24"/>
          <p:cNvSpPr/>
          <p:nvPr/>
        </p:nvSpPr>
        <p:spPr>
          <a:xfrm>
            <a:off x="5158501" y="1697294"/>
            <a:ext cx="3776100" cy="1048800"/>
          </a:xfrm>
          <a:prstGeom prst="rect">
            <a:avLst/>
          </a:prstGeom>
          <a:solidFill>
            <a:srgbClr val="F2F2F2"/>
          </a:solidFill>
          <a:ln>
            <a:noFill/>
          </a:ln>
        </p:spPr>
        <p:txBody>
          <a:bodyPr anchorCtr="0" anchor="ctr" bIns="104875" lIns="104875" spcFirstLastPara="1" rIns="104875" wrap="square" tIns="104875">
            <a:noAutofit/>
          </a:bodyPr>
          <a:lstStyle/>
          <a:p>
            <a:pPr indent="0" lvl="0" marL="0" rtl="0" algn="l">
              <a:spcBef>
                <a:spcPts val="0"/>
              </a:spcBef>
              <a:spcAft>
                <a:spcPts val="0"/>
              </a:spcAft>
              <a:buNone/>
            </a:pPr>
            <a:r>
              <a:t/>
            </a:r>
            <a:endParaRPr sz="1300"/>
          </a:p>
        </p:txBody>
      </p:sp>
      <p:sp>
        <p:nvSpPr>
          <p:cNvPr id="275" name="Google Shape;275;p24"/>
          <p:cNvSpPr/>
          <p:nvPr/>
        </p:nvSpPr>
        <p:spPr>
          <a:xfrm>
            <a:off x="5158501" y="1697294"/>
            <a:ext cx="63000" cy="1048800"/>
          </a:xfrm>
          <a:prstGeom prst="rect">
            <a:avLst/>
          </a:prstGeom>
          <a:solidFill>
            <a:srgbClr val="4A90D9"/>
          </a:solidFill>
          <a:ln>
            <a:noFill/>
          </a:ln>
        </p:spPr>
        <p:txBody>
          <a:bodyPr anchorCtr="0" anchor="ctr" bIns="104875" lIns="104875" spcFirstLastPara="1" rIns="104875" wrap="square" tIns="104875">
            <a:noAutofit/>
          </a:bodyPr>
          <a:lstStyle/>
          <a:p>
            <a:pPr indent="0" lvl="0" marL="0" rtl="0" algn="l">
              <a:spcBef>
                <a:spcPts val="0"/>
              </a:spcBef>
              <a:spcAft>
                <a:spcPts val="0"/>
              </a:spcAft>
              <a:buNone/>
            </a:pPr>
            <a:r>
              <a:t/>
            </a:r>
            <a:endParaRPr sz="1300"/>
          </a:p>
        </p:txBody>
      </p:sp>
      <p:sp>
        <p:nvSpPr>
          <p:cNvPr id="276" name="Google Shape;276;p24"/>
          <p:cNvSpPr/>
          <p:nvPr/>
        </p:nvSpPr>
        <p:spPr>
          <a:xfrm>
            <a:off x="5368276" y="1749737"/>
            <a:ext cx="3461100" cy="26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262"/>
              <a:buFont typeface="Arial"/>
              <a:buNone/>
            </a:pPr>
            <a:r>
              <a:rPr b="1" i="0" lang="en-US" sz="1300" u="none" cap="none" strike="noStrike">
                <a:solidFill>
                  <a:srgbClr val="041E42"/>
                </a:solidFill>
                <a:latin typeface="Arial"/>
                <a:ea typeface="Arial"/>
                <a:cs typeface="Arial"/>
                <a:sym typeface="Arial"/>
              </a:rPr>
              <a:t>Attrition (20%)</a:t>
            </a:r>
            <a:endParaRPr b="0" i="0" sz="1300" u="none" cap="none" strike="noStrike">
              <a:solidFill>
                <a:srgbClr val="000000"/>
              </a:solidFill>
              <a:latin typeface="Calibri"/>
              <a:ea typeface="Calibri"/>
              <a:cs typeface="Calibri"/>
              <a:sym typeface="Calibri"/>
            </a:endParaRPr>
          </a:p>
        </p:txBody>
      </p:sp>
      <p:sp>
        <p:nvSpPr>
          <p:cNvPr id="277" name="Google Shape;277;p24"/>
          <p:cNvSpPr/>
          <p:nvPr/>
        </p:nvSpPr>
        <p:spPr>
          <a:xfrm>
            <a:off x="5368276" y="2011956"/>
            <a:ext cx="3461100" cy="681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A1A1A"/>
              </a:buClr>
              <a:buSzPts val="1090"/>
              <a:buFont typeface="Arial"/>
              <a:buNone/>
            </a:pPr>
            <a:r>
              <a:rPr b="0" i="0" lang="en-US" sz="1300" u="none" cap="none" strike="noStrike">
                <a:solidFill>
                  <a:srgbClr val="1A1A1A"/>
                </a:solidFill>
                <a:latin typeface="Arial"/>
                <a:ea typeface="Arial"/>
                <a:cs typeface="Arial"/>
                <a:sym typeface="Arial"/>
              </a:rPr>
              <a:t>T2 vs C power drops only</a:t>
            </a:r>
            <a:r>
              <a:rPr lang="en-US" sz="1300">
                <a:latin typeface="Calibri"/>
                <a:ea typeface="Calibri"/>
                <a:cs typeface="Calibri"/>
                <a:sym typeface="Calibri"/>
              </a:rPr>
              <a:t> </a:t>
            </a:r>
            <a:r>
              <a:rPr b="0" i="0" lang="en-US" sz="1300" u="none" cap="none" strike="noStrike">
                <a:solidFill>
                  <a:srgbClr val="1A1A1A"/>
                </a:solidFill>
                <a:latin typeface="Arial"/>
                <a:ea typeface="Arial"/>
                <a:cs typeface="Arial"/>
                <a:sym typeface="Arial"/>
              </a:rPr>
              <a:t>from 81.4% to 80.0%.</a:t>
            </a:r>
            <a:r>
              <a:rPr lang="en-US" sz="1300">
                <a:latin typeface="Calibri"/>
                <a:ea typeface="Calibri"/>
                <a:cs typeface="Calibri"/>
                <a:sym typeface="Calibri"/>
              </a:rPr>
              <a:t> </a:t>
            </a:r>
            <a:r>
              <a:rPr b="0" i="0" lang="en-US" sz="1300" u="none" cap="none" strike="noStrike">
                <a:solidFill>
                  <a:srgbClr val="1A1A1A"/>
                </a:solidFill>
                <a:latin typeface="Arial"/>
                <a:ea typeface="Arial"/>
                <a:cs typeface="Arial"/>
                <a:sym typeface="Arial"/>
              </a:rPr>
              <a:t>Robust to moderate dropout.</a:t>
            </a:r>
            <a:endParaRPr b="0" i="0" sz="1300" u="none" cap="none" strike="noStrike">
              <a:solidFill>
                <a:srgbClr val="000000"/>
              </a:solidFill>
              <a:latin typeface="Calibri"/>
              <a:ea typeface="Calibri"/>
              <a:cs typeface="Calibri"/>
              <a:sym typeface="Calibri"/>
            </a:endParaRPr>
          </a:p>
        </p:txBody>
      </p:sp>
      <p:sp>
        <p:nvSpPr>
          <p:cNvPr id="278" name="Google Shape;278;p24"/>
          <p:cNvSpPr/>
          <p:nvPr/>
        </p:nvSpPr>
        <p:spPr>
          <a:xfrm>
            <a:off x="5158501" y="2903498"/>
            <a:ext cx="3776100" cy="1048800"/>
          </a:xfrm>
          <a:prstGeom prst="rect">
            <a:avLst/>
          </a:prstGeom>
          <a:solidFill>
            <a:srgbClr val="F2F2F2"/>
          </a:solidFill>
          <a:ln>
            <a:noFill/>
          </a:ln>
        </p:spPr>
        <p:txBody>
          <a:bodyPr anchorCtr="0" anchor="ctr" bIns="104875" lIns="104875" spcFirstLastPara="1" rIns="104875" wrap="square" tIns="104875">
            <a:noAutofit/>
          </a:bodyPr>
          <a:lstStyle/>
          <a:p>
            <a:pPr indent="0" lvl="0" marL="0" rtl="0" algn="l">
              <a:spcBef>
                <a:spcPts val="0"/>
              </a:spcBef>
              <a:spcAft>
                <a:spcPts val="0"/>
              </a:spcAft>
              <a:buNone/>
            </a:pPr>
            <a:r>
              <a:t/>
            </a:r>
            <a:endParaRPr sz="1300"/>
          </a:p>
        </p:txBody>
      </p:sp>
      <p:sp>
        <p:nvSpPr>
          <p:cNvPr id="279" name="Google Shape;279;p24"/>
          <p:cNvSpPr/>
          <p:nvPr/>
        </p:nvSpPr>
        <p:spPr>
          <a:xfrm>
            <a:off x="5158501" y="2903498"/>
            <a:ext cx="63000" cy="1048800"/>
          </a:xfrm>
          <a:prstGeom prst="rect">
            <a:avLst/>
          </a:prstGeom>
          <a:solidFill>
            <a:srgbClr val="4A90D9"/>
          </a:solidFill>
          <a:ln>
            <a:noFill/>
          </a:ln>
        </p:spPr>
        <p:txBody>
          <a:bodyPr anchorCtr="0" anchor="ctr" bIns="104875" lIns="104875" spcFirstLastPara="1" rIns="104875" wrap="square" tIns="104875">
            <a:noAutofit/>
          </a:bodyPr>
          <a:lstStyle/>
          <a:p>
            <a:pPr indent="0" lvl="0" marL="0" rtl="0" algn="l">
              <a:spcBef>
                <a:spcPts val="0"/>
              </a:spcBef>
              <a:spcAft>
                <a:spcPts val="0"/>
              </a:spcAft>
              <a:buNone/>
            </a:pPr>
            <a:r>
              <a:t/>
            </a:r>
            <a:endParaRPr sz="1300"/>
          </a:p>
        </p:txBody>
      </p:sp>
      <p:sp>
        <p:nvSpPr>
          <p:cNvPr id="280" name="Google Shape;280;p24"/>
          <p:cNvSpPr/>
          <p:nvPr/>
        </p:nvSpPr>
        <p:spPr>
          <a:xfrm>
            <a:off x="5368276" y="2955942"/>
            <a:ext cx="3461100" cy="26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262"/>
              <a:buFont typeface="Arial"/>
              <a:buNone/>
            </a:pPr>
            <a:r>
              <a:rPr b="1" i="0" lang="en-US" sz="1300" u="none" cap="none" strike="noStrike">
                <a:solidFill>
                  <a:srgbClr val="041E42"/>
                </a:solidFill>
                <a:latin typeface="Arial"/>
                <a:ea typeface="Arial"/>
                <a:cs typeface="Arial"/>
                <a:sym typeface="Arial"/>
              </a:rPr>
              <a:t>MDE threshold</a:t>
            </a:r>
            <a:endParaRPr b="0" i="0" sz="1300" u="none" cap="none" strike="noStrike">
              <a:solidFill>
                <a:srgbClr val="000000"/>
              </a:solidFill>
              <a:latin typeface="Calibri"/>
              <a:ea typeface="Calibri"/>
              <a:cs typeface="Calibri"/>
              <a:sym typeface="Calibri"/>
            </a:endParaRPr>
          </a:p>
        </p:txBody>
      </p:sp>
      <p:sp>
        <p:nvSpPr>
          <p:cNvPr id="281" name="Google Shape;281;p24"/>
          <p:cNvSpPr/>
          <p:nvPr/>
        </p:nvSpPr>
        <p:spPr>
          <a:xfrm>
            <a:off x="5368276" y="3218160"/>
            <a:ext cx="3461100" cy="681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A1A1A"/>
              </a:buClr>
              <a:buSzPts val="1090"/>
              <a:buFont typeface="Arial"/>
              <a:buNone/>
            </a:pPr>
            <a:r>
              <a:rPr b="0" i="0" lang="en-US" sz="1300" u="none" cap="none" strike="noStrike">
                <a:solidFill>
                  <a:srgbClr val="1A1A1A"/>
                </a:solidFill>
                <a:latin typeface="Arial"/>
                <a:ea typeface="Arial"/>
                <a:cs typeface="Arial"/>
                <a:sym typeface="Arial"/>
              </a:rPr>
              <a:t>At 45 villages/arm, we can</a:t>
            </a:r>
            <a:r>
              <a:rPr lang="en-US" sz="1300">
                <a:latin typeface="Calibri"/>
                <a:ea typeface="Calibri"/>
                <a:cs typeface="Calibri"/>
                <a:sym typeface="Calibri"/>
              </a:rPr>
              <a:t> </a:t>
            </a:r>
            <a:r>
              <a:rPr b="0" i="0" lang="en-US" sz="1300" u="none" cap="none" strike="noStrike">
                <a:solidFill>
                  <a:srgbClr val="1A1A1A"/>
                </a:solidFill>
                <a:latin typeface="Arial"/>
                <a:ea typeface="Arial"/>
                <a:cs typeface="Arial"/>
                <a:sym typeface="Arial"/>
              </a:rPr>
              <a:t>reliably detect effects of</a:t>
            </a:r>
            <a:r>
              <a:rPr lang="en-US" sz="1300">
                <a:latin typeface="Calibri"/>
                <a:ea typeface="Calibri"/>
                <a:cs typeface="Calibri"/>
                <a:sym typeface="Calibri"/>
              </a:rPr>
              <a:t> </a:t>
            </a:r>
            <a:r>
              <a:rPr b="0" i="0" lang="en-US" sz="1300" u="none" cap="none" strike="noStrike">
                <a:solidFill>
                  <a:srgbClr val="1A1A1A"/>
                </a:solidFill>
                <a:latin typeface="Arial"/>
                <a:ea typeface="Arial"/>
                <a:cs typeface="Arial"/>
                <a:sym typeface="Arial"/>
              </a:rPr>
              <a:t>15pp or larger.</a:t>
            </a:r>
            <a:endParaRPr b="0" i="0" sz="1300" u="none" cap="none" strike="noStrike">
              <a:solidFill>
                <a:srgbClr val="000000"/>
              </a:solidFill>
              <a:latin typeface="Calibri"/>
              <a:ea typeface="Calibri"/>
              <a:cs typeface="Calibri"/>
              <a:sym typeface="Calibri"/>
            </a:endParaRPr>
          </a:p>
        </p:txBody>
      </p:sp>
      <p:sp>
        <p:nvSpPr>
          <p:cNvPr id="282" name="Google Shape;282;p24"/>
          <p:cNvSpPr/>
          <p:nvPr/>
        </p:nvSpPr>
        <p:spPr>
          <a:xfrm>
            <a:off x="5158501" y="4109702"/>
            <a:ext cx="3776100" cy="1048800"/>
          </a:xfrm>
          <a:prstGeom prst="rect">
            <a:avLst/>
          </a:prstGeom>
          <a:solidFill>
            <a:srgbClr val="F2F2F2"/>
          </a:solidFill>
          <a:ln>
            <a:noFill/>
          </a:ln>
        </p:spPr>
        <p:txBody>
          <a:bodyPr anchorCtr="0" anchor="ctr" bIns="104875" lIns="104875" spcFirstLastPara="1" rIns="104875" wrap="square" tIns="104875">
            <a:noAutofit/>
          </a:bodyPr>
          <a:lstStyle/>
          <a:p>
            <a:pPr indent="0" lvl="0" marL="0" rtl="0" algn="l">
              <a:spcBef>
                <a:spcPts val="0"/>
              </a:spcBef>
              <a:spcAft>
                <a:spcPts val="0"/>
              </a:spcAft>
              <a:buNone/>
            </a:pPr>
            <a:r>
              <a:t/>
            </a:r>
            <a:endParaRPr sz="1300"/>
          </a:p>
        </p:txBody>
      </p:sp>
      <p:sp>
        <p:nvSpPr>
          <p:cNvPr id="283" name="Google Shape;283;p24"/>
          <p:cNvSpPr/>
          <p:nvPr/>
        </p:nvSpPr>
        <p:spPr>
          <a:xfrm>
            <a:off x="5158501" y="4109702"/>
            <a:ext cx="63000" cy="1048800"/>
          </a:xfrm>
          <a:prstGeom prst="rect">
            <a:avLst/>
          </a:prstGeom>
          <a:solidFill>
            <a:srgbClr val="4A90D9"/>
          </a:solidFill>
          <a:ln>
            <a:noFill/>
          </a:ln>
        </p:spPr>
        <p:txBody>
          <a:bodyPr anchorCtr="0" anchor="ctr" bIns="104875" lIns="104875" spcFirstLastPara="1" rIns="104875" wrap="square" tIns="104875">
            <a:noAutofit/>
          </a:bodyPr>
          <a:lstStyle/>
          <a:p>
            <a:pPr indent="0" lvl="0" marL="0" rtl="0" algn="l">
              <a:spcBef>
                <a:spcPts val="0"/>
              </a:spcBef>
              <a:spcAft>
                <a:spcPts val="0"/>
              </a:spcAft>
              <a:buNone/>
            </a:pPr>
            <a:r>
              <a:t/>
            </a:r>
            <a:endParaRPr sz="1300"/>
          </a:p>
        </p:txBody>
      </p:sp>
      <p:sp>
        <p:nvSpPr>
          <p:cNvPr id="284" name="Google Shape;284;p24"/>
          <p:cNvSpPr/>
          <p:nvPr/>
        </p:nvSpPr>
        <p:spPr>
          <a:xfrm>
            <a:off x="5368276" y="4162146"/>
            <a:ext cx="3461100" cy="26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262"/>
              <a:buFont typeface="Arial"/>
              <a:buNone/>
            </a:pPr>
            <a:r>
              <a:rPr b="1" i="0" lang="en-US" sz="1300" u="none" cap="none" strike="noStrike">
                <a:solidFill>
                  <a:srgbClr val="041E42"/>
                </a:solidFill>
                <a:latin typeface="Arial"/>
                <a:ea typeface="Arial"/>
                <a:cs typeface="Arial"/>
                <a:sym typeface="Arial"/>
              </a:rPr>
              <a:t>Regional heterogeneity</a:t>
            </a:r>
            <a:endParaRPr b="0" i="0" sz="1300" u="none" cap="none" strike="noStrike">
              <a:solidFill>
                <a:srgbClr val="000000"/>
              </a:solidFill>
              <a:latin typeface="Calibri"/>
              <a:ea typeface="Calibri"/>
              <a:cs typeface="Calibri"/>
              <a:sym typeface="Calibri"/>
            </a:endParaRPr>
          </a:p>
        </p:txBody>
      </p:sp>
      <p:sp>
        <p:nvSpPr>
          <p:cNvPr id="285" name="Google Shape;285;p24"/>
          <p:cNvSpPr/>
          <p:nvPr/>
        </p:nvSpPr>
        <p:spPr>
          <a:xfrm>
            <a:off x="5368276" y="4424364"/>
            <a:ext cx="3461100" cy="681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A1A1A"/>
              </a:buClr>
              <a:buSzPts val="1090"/>
              <a:buFont typeface="Arial"/>
              <a:buNone/>
            </a:pPr>
            <a:r>
              <a:rPr b="0" i="0" lang="en-US" sz="1300" u="none" cap="none" strike="noStrike">
                <a:solidFill>
                  <a:srgbClr val="1A1A1A"/>
                </a:solidFill>
                <a:latin typeface="Arial"/>
                <a:ea typeface="Arial"/>
                <a:cs typeface="Arial"/>
                <a:sym typeface="Arial"/>
              </a:rPr>
              <a:t>Cannot distinguish N vs S</a:t>
            </a:r>
            <a:r>
              <a:rPr lang="en-US" sz="1300">
                <a:latin typeface="Calibri"/>
                <a:ea typeface="Calibri"/>
                <a:cs typeface="Calibri"/>
                <a:sym typeface="Calibri"/>
              </a:rPr>
              <a:t> </a:t>
            </a:r>
            <a:r>
              <a:rPr b="0" i="0" lang="en-US" sz="1300" u="none" cap="none" strike="noStrike">
                <a:solidFill>
                  <a:srgbClr val="1A1A1A"/>
                </a:solidFill>
                <a:latin typeface="Arial"/>
                <a:ea typeface="Arial"/>
                <a:cs typeface="Arial"/>
                <a:sym typeface="Arial"/>
              </a:rPr>
              <a:t>reatment effects at this</a:t>
            </a:r>
            <a:r>
              <a:rPr lang="en-US" sz="1300">
                <a:latin typeface="Calibri"/>
                <a:ea typeface="Calibri"/>
                <a:cs typeface="Calibri"/>
                <a:sym typeface="Calibri"/>
              </a:rPr>
              <a:t> </a:t>
            </a:r>
            <a:r>
              <a:rPr b="0" i="0" lang="en-US" sz="1300" u="none" cap="none" strike="noStrike">
                <a:solidFill>
                  <a:srgbClr val="1A1A1A"/>
                </a:solidFill>
                <a:latin typeface="Arial"/>
                <a:ea typeface="Arial"/>
                <a:cs typeface="Arial"/>
                <a:sym typeface="Arial"/>
              </a:rPr>
              <a:t>sample. Exploratory only.</a:t>
            </a:r>
            <a:endParaRPr b="0" i="0" sz="13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5"/>
          <p:cNvSpPr txBox="1"/>
          <p:nvPr>
            <p:ph type="title"/>
          </p:nvPr>
        </p:nvSpPr>
        <p:spPr>
          <a:xfrm>
            <a:off x="265176" y="310896"/>
            <a:ext cx="8686500" cy="580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D50"/>
              </a:buClr>
              <a:buSzPts val="2700"/>
              <a:buFont typeface="Helvetica Neue"/>
              <a:buNone/>
            </a:pPr>
            <a:r>
              <a:rPr lang="en-US"/>
              <a:t>What We Cannot Answer</a:t>
            </a:r>
            <a:endParaRPr/>
          </a:p>
        </p:txBody>
      </p:sp>
      <p:sp>
        <p:nvSpPr>
          <p:cNvPr id="292" name="Google Shape;292;p25"/>
          <p:cNvSpPr txBox="1"/>
          <p:nvPr/>
        </p:nvSpPr>
        <p:spPr>
          <a:xfrm>
            <a:off x="4683208" y="21526184"/>
            <a:ext cx="43761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i="0" lang="en-US" sz="1500" u="none" cap="none" strike="noStrike">
                <a:solidFill>
                  <a:schemeClr val="dk1"/>
                </a:solidFill>
                <a:latin typeface="Helvetica Neue"/>
                <a:ea typeface="Helvetica Neue"/>
                <a:cs typeface="Helvetica Neue"/>
                <a:sym typeface="Helvetica Neue"/>
              </a:rPr>
              <a:t>Bulleted Text Style Title—</a:t>
            </a:r>
            <a:br>
              <a:rPr b="1" i="0" lang="en-US" sz="1500" u="none" cap="none" strike="noStrike">
                <a:solidFill>
                  <a:schemeClr val="dk1"/>
                </a:solidFill>
                <a:latin typeface="Helvetica Neue"/>
                <a:ea typeface="Helvetica Neue"/>
                <a:cs typeface="Helvetica Neue"/>
                <a:sym typeface="Helvetica Neue"/>
              </a:rPr>
            </a:br>
            <a:r>
              <a:rPr b="1" i="0" lang="en-US" sz="1500" u="none" cap="none" strike="noStrike">
                <a:solidFill>
                  <a:schemeClr val="dk1"/>
                </a:solidFill>
                <a:latin typeface="Helvetica Neue"/>
                <a:ea typeface="Helvetica Neue"/>
                <a:cs typeface="Helvetica Neue"/>
                <a:sym typeface="Helvetica Neue"/>
              </a:rPr>
              <a:t>Helvetica Neue 20pt Bold</a:t>
            </a:r>
            <a:endParaRPr/>
          </a:p>
        </p:txBody>
      </p:sp>
      <p:sp>
        <p:nvSpPr>
          <p:cNvPr id="293" name="Google Shape;293;p25"/>
          <p:cNvSpPr/>
          <p:nvPr/>
        </p:nvSpPr>
        <p:spPr>
          <a:xfrm>
            <a:off x="228750" y="1087700"/>
            <a:ext cx="8686500" cy="1338300"/>
          </a:xfrm>
          <a:prstGeom prst="rect">
            <a:avLst/>
          </a:prstGeom>
          <a:solidFill>
            <a:srgbClr val="F2F2F2"/>
          </a:solidFill>
          <a:ln>
            <a:noFill/>
          </a:ln>
        </p:spPr>
        <p:txBody>
          <a:bodyPr anchorCtr="0" anchor="ctr" bIns="116375" lIns="116375" spcFirstLastPara="1" rIns="116375" wrap="square" tIns="116375">
            <a:noAutofit/>
          </a:bodyPr>
          <a:lstStyle/>
          <a:p>
            <a:pPr indent="0" lvl="0" marL="0" rtl="0" algn="l">
              <a:spcBef>
                <a:spcPts val="0"/>
              </a:spcBef>
              <a:spcAft>
                <a:spcPts val="0"/>
              </a:spcAft>
              <a:buNone/>
            </a:pPr>
            <a:r>
              <a:t/>
            </a:r>
            <a:endParaRPr/>
          </a:p>
        </p:txBody>
      </p:sp>
      <p:sp>
        <p:nvSpPr>
          <p:cNvPr id="294" name="Google Shape;294;p25"/>
          <p:cNvSpPr/>
          <p:nvPr/>
        </p:nvSpPr>
        <p:spPr>
          <a:xfrm>
            <a:off x="228750" y="1087700"/>
            <a:ext cx="69000" cy="1338300"/>
          </a:xfrm>
          <a:prstGeom prst="rect">
            <a:avLst/>
          </a:prstGeom>
          <a:solidFill>
            <a:srgbClr val="041E42"/>
          </a:solidFill>
          <a:ln>
            <a:noFill/>
          </a:ln>
        </p:spPr>
        <p:txBody>
          <a:bodyPr anchorCtr="0" anchor="ctr" bIns="116375" lIns="116375" spcFirstLastPara="1" rIns="116375" wrap="square" tIns="116375">
            <a:noAutofit/>
          </a:bodyPr>
          <a:lstStyle/>
          <a:p>
            <a:pPr indent="0" lvl="0" marL="0" rtl="0" algn="l">
              <a:spcBef>
                <a:spcPts val="0"/>
              </a:spcBef>
              <a:spcAft>
                <a:spcPts val="0"/>
              </a:spcAft>
              <a:buNone/>
            </a:pPr>
            <a:r>
              <a:t/>
            </a:r>
            <a:endParaRPr/>
          </a:p>
        </p:txBody>
      </p:sp>
      <p:sp>
        <p:nvSpPr>
          <p:cNvPr id="295" name="Google Shape;295;p25"/>
          <p:cNvSpPr/>
          <p:nvPr/>
        </p:nvSpPr>
        <p:spPr>
          <a:xfrm>
            <a:off x="524888" y="1180806"/>
            <a:ext cx="8193000" cy="34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782"/>
              <a:buFont typeface="Arial"/>
              <a:buNone/>
            </a:pPr>
            <a:r>
              <a:rPr b="1" i="0" lang="en-US" sz="1782" u="none" cap="none" strike="noStrike">
                <a:solidFill>
                  <a:srgbClr val="041E42"/>
                </a:solidFill>
                <a:latin typeface="Arial"/>
                <a:ea typeface="Arial"/>
                <a:cs typeface="Arial"/>
                <a:sym typeface="Arial"/>
              </a:rPr>
              <a:t>Microcredit marginal effect</a:t>
            </a:r>
            <a:endParaRPr b="0" i="0" sz="1782" u="none" cap="none" strike="noStrike">
              <a:solidFill>
                <a:srgbClr val="000000"/>
              </a:solidFill>
              <a:latin typeface="Calibri"/>
              <a:ea typeface="Calibri"/>
              <a:cs typeface="Calibri"/>
              <a:sym typeface="Calibri"/>
            </a:endParaRPr>
          </a:p>
        </p:txBody>
      </p:sp>
      <p:sp>
        <p:nvSpPr>
          <p:cNvPr id="296" name="Google Shape;296;p25"/>
          <p:cNvSpPr/>
          <p:nvPr/>
        </p:nvSpPr>
        <p:spPr>
          <a:xfrm>
            <a:off x="524888" y="1553230"/>
            <a:ext cx="8193000" cy="814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A1A1A"/>
              </a:buClr>
              <a:buSzPts val="1400"/>
              <a:buFont typeface="Arial"/>
              <a:buNone/>
            </a:pPr>
            <a:r>
              <a:rPr b="0" i="0" lang="en-US" sz="1400" u="none" cap="none" strike="noStrike">
                <a:solidFill>
                  <a:srgbClr val="1A1A1A"/>
                </a:solidFill>
                <a:latin typeface="Arial"/>
                <a:ea typeface="Arial"/>
                <a:cs typeface="Arial"/>
                <a:sym typeface="Arial"/>
              </a:rPr>
              <a:t>The expected difference between extension+microcredit and extension-only is about 5 percentage points. At our ICC, this requires hundreds of villages per arm. Our study can assess the full intervention vs. status quo, but cannot isolate the credit component.</a:t>
            </a:r>
            <a:endParaRPr b="0" i="0" sz="1400" u="none" cap="none" strike="noStrike">
              <a:solidFill>
                <a:srgbClr val="000000"/>
              </a:solidFill>
              <a:latin typeface="Calibri"/>
              <a:ea typeface="Calibri"/>
              <a:cs typeface="Calibri"/>
              <a:sym typeface="Calibri"/>
            </a:endParaRPr>
          </a:p>
        </p:txBody>
      </p:sp>
      <p:sp>
        <p:nvSpPr>
          <p:cNvPr id="297" name="Google Shape;297;p25"/>
          <p:cNvSpPr/>
          <p:nvPr/>
        </p:nvSpPr>
        <p:spPr>
          <a:xfrm>
            <a:off x="228750" y="2658863"/>
            <a:ext cx="8686500" cy="1338300"/>
          </a:xfrm>
          <a:prstGeom prst="rect">
            <a:avLst/>
          </a:prstGeom>
          <a:solidFill>
            <a:srgbClr val="F2F2F2"/>
          </a:solidFill>
          <a:ln>
            <a:noFill/>
          </a:ln>
        </p:spPr>
        <p:txBody>
          <a:bodyPr anchorCtr="0" anchor="ctr" bIns="116375" lIns="116375" spcFirstLastPara="1" rIns="116375" wrap="square" tIns="116375">
            <a:noAutofit/>
          </a:bodyPr>
          <a:lstStyle/>
          <a:p>
            <a:pPr indent="0" lvl="0" marL="0" rtl="0" algn="l">
              <a:spcBef>
                <a:spcPts val="0"/>
              </a:spcBef>
              <a:spcAft>
                <a:spcPts val="0"/>
              </a:spcAft>
              <a:buNone/>
            </a:pPr>
            <a:r>
              <a:t/>
            </a:r>
            <a:endParaRPr/>
          </a:p>
        </p:txBody>
      </p:sp>
      <p:sp>
        <p:nvSpPr>
          <p:cNvPr id="298" name="Google Shape;298;p25"/>
          <p:cNvSpPr/>
          <p:nvPr/>
        </p:nvSpPr>
        <p:spPr>
          <a:xfrm>
            <a:off x="228750" y="2658863"/>
            <a:ext cx="69000" cy="1338300"/>
          </a:xfrm>
          <a:prstGeom prst="rect">
            <a:avLst/>
          </a:prstGeom>
          <a:solidFill>
            <a:srgbClr val="1B3A5C"/>
          </a:solidFill>
          <a:ln>
            <a:noFill/>
          </a:ln>
        </p:spPr>
        <p:txBody>
          <a:bodyPr anchorCtr="0" anchor="ctr" bIns="116375" lIns="116375" spcFirstLastPara="1" rIns="116375" wrap="square" tIns="116375">
            <a:noAutofit/>
          </a:bodyPr>
          <a:lstStyle/>
          <a:p>
            <a:pPr indent="0" lvl="0" marL="0" rtl="0" algn="l">
              <a:spcBef>
                <a:spcPts val="0"/>
              </a:spcBef>
              <a:spcAft>
                <a:spcPts val="0"/>
              </a:spcAft>
              <a:buNone/>
            </a:pPr>
            <a:r>
              <a:t/>
            </a:r>
            <a:endParaRPr/>
          </a:p>
        </p:txBody>
      </p:sp>
      <p:sp>
        <p:nvSpPr>
          <p:cNvPr id="299" name="Google Shape;299;p25"/>
          <p:cNvSpPr/>
          <p:nvPr/>
        </p:nvSpPr>
        <p:spPr>
          <a:xfrm>
            <a:off x="524888" y="2751969"/>
            <a:ext cx="8193000" cy="34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782"/>
              <a:buFont typeface="Arial"/>
              <a:buNone/>
            </a:pPr>
            <a:r>
              <a:rPr b="1" i="0" lang="en-US" sz="1782" u="none" cap="none" strike="noStrike">
                <a:solidFill>
                  <a:srgbClr val="041E42"/>
                </a:solidFill>
                <a:latin typeface="Arial"/>
                <a:ea typeface="Arial"/>
                <a:cs typeface="Arial"/>
                <a:sym typeface="Arial"/>
              </a:rPr>
              <a:t>Regional heterogeneity</a:t>
            </a:r>
            <a:endParaRPr b="0" i="0" sz="1782" u="none" cap="none" strike="noStrike">
              <a:solidFill>
                <a:srgbClr val="000000"/>
              </a:solidFill>
              <a:latin typeface="Calibri"/>
              <a:ea typeface="Calibri"/>
              <a:cs typeface="Calibri"/>
              <a:sym typeface="Calibri"/>
            </a:endParaRPr>
          </a:p>
        </p:txBody>
      </p:sp>
      <p:sp>
        <p:nvSpPr>
          <p:cNvPr id="300" name="Google Shape;300;p25"/>
          <p:cNvSpPr/>
          <p:nvPr/>
        </p:nvSpPr>
        <p:spPr>
          <a:xfrm>
            <a:off x="524888" y="3124393"/>
            <a:ext cx="8193000" cy="814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A1A1A"/>
              </a:buClr>
              <a:buSzPts val="1400"/>
              <a:buFont typeface="Arial"/>
              <a:buNone/>
            </a:pPr>
            <a:r>
              <a:rPr b="0" i="0" lang="en-US" sz="1400" u="none" cap="none" strike="noStrike">
                <a:solidFill>
                  <a:srgbClr val="1A1A1A"/>
                </a:solidFill>
                <a:latin typeface="Arial"/>
                <a:ea typeface="Arial"/>
                <a:cs typeface="Arial"/>
                <a:sym typeface="Arial"/>
              </a:rPr>
              <a:t>We pre-specify a test of whether treatment effects differ between North and South. However, at 45 villages per arm, the study has limited power for this comparison. This analysis will be treated as exploratory, not confirmatory.</a:t>
            </a:r>
            <a:endParaRPr b="0" i="0" sz="1400" u="none" cap="none" strike="noStrike">
              <a:solidFill>
                <a:srgbClr val="000000"/>
              </a:solidFill>
              <a:latin typeface="Calibri"/>
              <a:ea typeface="Calibri"/>
              <a:cs typeface="Calibri"/>
              <a:sym typeface="Calibri"/>
            </a:endParaRPr>
          </a:p>
        </p:txBody>
      </p:sp>
      <p:sp>
        <p:nvSpPr>
          <p:cNvPr id="301" name="Google Shape;301;p25"/>
          <p:cNvSpPr/>
          <p:nvPr/>
        </p:nvSpPr>
        <p:spPr>
          <a:xfrm>
            <a:off x="228750" y="4230026"/>
            <a:ext cx="8686500" cy="1338300"/>
          </a:xfrm>
          <a:prstGeom prst="rect">
            <a:avLst/>
          </a:prstGeom>
          <a:solidFill>
            <a:srgbClr val="F2F2F2"/>
          </a:solidFill>
          <a:ln>
            <a:noFill/>
          </a:ln>
        </p:spPr>
        <p:txBody>
          <a:bodyPr anchorCtr="0" anchor="ctr" bIns="116375" lIns="116375" spcFirstLastPara="1" rIns="116375" wrap="square" tIns="116375">
            <a:noAutofit/>
          </a:bodyPr>
          <a:lstStyle/>
          <a:p>
            <a:pPr indent="0" lvl="0" marL="0" rtl="0" algn="l">
              <a:spcBef>
                <a:spcPts val="0"/>
              </a:spcBef>
              <a:spcAft>
                <a:spcPts val="0"/>
              </a:spcAft>
              <a:buNone/>
            </a:pPr>
            <a:r>
              <a:t/>
            </a:r>
            <a:endParaRPr/>
          </a:p>
        </p:txBody>
      </p:sp>
      <p:sp>
        <p:nvSpPr>
          <p:cNvPr id="302" name="Google Shape;302;p25"/>
          <p:cNvSpPr/>
          <p:nvPr/>
        </p:nvSpPr>
        <p:spPr>
          <a:xfrm>
            <a:off x="228750" y="4230026"/>
            <a:ext cx="69000" cy="1338300"/>
          </a:xfrm>
          <a:prstGeom prst="rect">
            <a:avLst/>
          </a:prstGeom>
          <a:solidFill>
            <a:srgbClr val="4A90D9"/>
          </a:solidFill>
          <a:ln>
            <a:noFill/>
          </a:ln>
        </p:spPr>
        <p:txBody>
          <a:bodyPr anchorCtr="0" anchor="ctr" bIns="116375" lIns="116375" spcFirstLastPara="1" rIns="116375" wrap="square" tIns="116375">
            <a:noAutofit/>
          </a:bodyPr>
          <a:lstStyle/>
          <a:p>
            <a:pPr indent="0" lvl="0" marL="0" rtl="0" algn="l">
              <a:spcBef>
                <a:spcPts val="0"/>
              </a:spcBef>
              <a:spcAft>
                <a:spcPts val="0"/>
              </a:spcAft>
              <a:buNone/>
            </a:pPr>
            <a:r>
              <a:t/>
            </a:r>
            <a:endParaRPr/>
          </a:p>
        </p:txBody>
      </p:sp>
      <p:sp>
        <p:nvSpPr>
          <p:cNvPr id="303" name="Google Shape;303;p25"/>
          <p:cNvSpPr/>
          <p:nvPr/>
        </p:nvSpPr>
        <p:spPr>
          <a:xfrm>
            <a:off x="524888" y="4323132"/>
            <a:ext cx="8193000" cy="34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782"/>
              <a:buFont typeface="Arial"/>
              <a:buNone/>
            </a:pPr>
            <a:r>
              <a:rPr b="1" i="0" lang="en-US" sz="1782" u="none" cap="none" strike="noStrike">
                <a:solidFill>
                  <a:srgbClr val="041E42"/>
                </a:solidFill>
                <a:latin typeface="Arial"/>
                <a:ea typeface="Arial"/>
                <a:cs typeface="Arial"/>
                <a:sym typeface="Arial"/>
              </a:rPr>
              <a:t>Baseline parameters are conservative</a:t>
            </a:r>
            <a:endParaRPr b="0" i="0" sz="1782" u="none" cap="none" strike="noStrike">
              <a:solidFill>
                <a:srgbClr val="000000"/>
              </a:solidFill>
              <a:latin typeface="Calibri"/>
              <a:ea typeface="Calibri"/>
              <a:cs typeface="Calibri"/>
              <a:sym typeface="Calibri"/>
            </a:endParaRPr>
          </a:p>
        </p:txBody>
      </p:sp>
      <p:sp>
        <p:nvSpPr>
          <p:cNvPr id="304" name="Google Shape;304;p25"/>
          <p:cNvSpPr/>
          <p:nvPr/>
        </p:nvSpPr>
        <p:spPr>
          <a:xfrm>
            <a:off x="524888" y="4695556"/>
            <a:ext cx="8193000" cy="814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A1A1A"/>
              </a:buClr>
              <a:buSzPts val="1400"/>
              <a:buFont typeface="Arial"/>
              <a:buNone/>
            </a:pPr>
            <a:r>
              <a:rPr b="0" i="0" lang="en-US" sz="1400" u="none" cap="none" strike="noStrike">
                <a:solidFill>
                  <a:srgbClr val="1A1A1A"/>
                </a:solidFill>
                <a:latin typeface="Arial"/>
                <a:ea typeface="Arial"/>
                <a:cs typeface="Arial"/>
                <a:sym typeface="Arial"/>
              </a:rPr>
              <a:t>The 7-day recall window may underestimate full-season participation (32.8% vs. potentially higher). ICC of 0.228 is above typical literature values (0.05-0.15). Both will be updated after the baseline survey. Final sample size may be adjusted.</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6"/>
          <p:cNvSpPr/>
          <p:nvPr/>
        </p:nvSpPr>
        <p:spPr>
          <a:xfrm>
            <a:off x="2" y="0"/>
            <a:ext cx="9151800" cy="6858000"/>
          </a:xfrm>
          <a:prstGeom prst="rect">
            <a:avLst/>
          </a:prstGeom>
          <a:solidFill>
            <a:srgbClr val="011B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Calibri"/>
              <a:ea typeface="Calibri"/>
              <a:cs typeface="Calibri"/>
              <a:sym typeface="Calibri"/>
            </a:endParaRPr>
          </a:p>
        </p:txBody>
      </p:sp>
      <p:pic>
        <p:nvPicPr>
          <p:cNvPr id="311" name="Google Shape;311;p26"/>
          <p:cNvPicPr preferRelativeResize="0"/>
          <p:nvPr/>
        </p:nvPicPr>
        <p:blipFill rotWithShape="1">
          <a:blip r:embed="rId3">
            <a:alphaModFix/>
          </a:blip>
          <a:srcRect b="0" l="0" r="0" t="0"/>
          <a:stretch/>
        </p:blipFill>
        <p:spPr>
          <a:xfrm>
            <a:off x="3563604" y="3620427"/>
            <a:ext cx="2016788" cy="1422956"/>
          </a:xfrm>
          <a:prstGeom prst="rect">
            <a:avLst/>
          </a:prstGeom>
          <a:noFill/>
          <a:ln>
            <a:noFill/>
          </a:ln>
        </p:spPr>
      </p:pic>
      <p:sp>
        <p:nvSpPr>
          <p:cNvPr id="312" name="Google Shape;312;p26"/>
          <p:cNvSpPr txBox="1"/>
          <p:nvPr>
            <p:ph type="ctrTitle"/>
          </p:nvPr>
        </p:nvSpPr>
        <p:spPr>
          <a:xfrm>
            <a:off x="1192053" y="2174890"/>
            <a:ext cx="6767700" cy="978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BBBCBC"/>
              </a:buClr>
              <a:buSzPts val="4050"/>
              <a:buFont typeface="Helvetica Neue"/>
              <a:buNone/>
            </a:pPr>
            <a:r>
              <a:rPr lang="en-US" sz="4051">
                <a:solidFill>
                  <a:srgbClr val="BBBCBC"/>
                </a:solidFill>
              </a:rPr>
              <a:t>Thank You!</a:t>
            </a:r>
            <a:endParaRPr sz="4051">
              <a:solidFill>
                <a:srgbClr val="BBBCBC"/>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Georgetown University OA">
      <a:dk1>
        <a:srgbClr val="000000"/>
      </a:dk1>
      <a:lt1>
        <a:srgbClr val="FFFFFF"/>
      </a:lt1>
      <a:dk2>
        <a:srgbClr val="011B39"/>
      </a:dk2>
      <a:lt2>
        <a:srgbClr val="4A4C4D"/>
      </a:lt2>
      <a:accent1>
        <a:srgbClr val="003B7C"/>
      </a:accent1>
      <a:accent2>
        <a:srgbClr val="9CA09C"/>
      </a:accent2>
      <a:accent3>
        <a:srgbClr val="00A4CC"/>
      </a:accent3>
      <a:accent4>
        <a:srgbClr val="46A536"/>
      </a:accent4>
      <a:accent5>
        <a:srgbClr val="CD0032"/>
      </a:accent5>
      <a:accent6>
        <a:srgbClr val="580A1D"/>
      </a:accent6>
      <a:hlink>
        <a:srgbClr val="003D81"/>
      </a:hlink>
      <a:folHlink>
        <a:srgbClr val="00A4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